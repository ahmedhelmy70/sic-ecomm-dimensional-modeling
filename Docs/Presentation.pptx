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8288000" cy="10287000"/>
  <p:notesSz cx="6858000" cy="9144000"/>
  <p:embeddedFontLst>
    <p:embeddedFont>
      <p:font typeface="Arial Bold" charset="1" panose="020B0704020202020204"/>
      <p:regular r:id="rId34"/>
    </p:embeddedFont>
    <p:embeddedFont>
      <p:font typeface="Calibri (MS)" charset="1" panose="020F0502020204030204"/>
      <p:regular r:id="rId35"/>
    </p:embeddedFont>
    <p:embeddedFont>
      <p:font typeface="Arial" charset="1" panose="020B0604020202020204"/>
      <p:regular r:id="rId36"/>
    </p:embeddedFont>
    <p:embeddedFont>
      <p:font typeface="Calibri (MS) Bold" charset="1" panose="020F0702030404030204"/>
      <p:regular r:id="rId38"/>
    </p:embeddedFont>
    <p:embeddedFont>
      <p:font typeface="Archivo Black" charset="1" panose="020B0A03020202020B04"/>
      <p:regular r:id="rId40"/>
    </p:embeddedFont>
    <p:embeddedFont>
      <p:font typeface="Playwrite US Modern" charset="1" panose="00000000000000000000"/>
      <p:regular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notesMasters/notesMaster1.xml" Type="http://schemas.openxmlformats.org/officeDocument/2006/relationships/notesMaster"/><Relationship Id="rId32" Target="theme/theme2.xml" Type="http://schemas.openxmlformats.org/officeDocument/2006/relationships/theme"/><Relationship Id="rId33" Target="notesSlides/notesSlide1.xml" Type="http://schemas.openxmlformats.org/officeDocument/2006/relationships/notesSlide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notesSlides/notesSlide2.xml" Type="http://schemas.openxmlformats.org/officeDocument/2006/relationships/notesSlide"/><Relationship Id="rId38" Target="fonts/font38.fntdata" Type="http://schemas.openxmlformats.org/officeDocument/2006/relationships/font"/><Relationship Id="rId39" Target="notesSlides/notesSlide3.xml" Type="http://schemas.openxmlformats.org/officeDocument/2006/relationships/notesSlide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notesSlides/notesSlide4.xml" Type="http://schemas.openxmlformats.org/officeDocument/2006/relationships/notesSlide"/><Relationship Id="rId43" Target="notesSlides/notesSlide5.xml" Type="http://schemas.openxmlformats.org/officeDocument/2006/relationships/notesSlide"/><Relationship Id="rId44" Target="notesSlides/notesSlide6.xml" Type="http://schemas.openxmlformats.org/officeDocument/2006/relationships/notesSlide"/><Relationship Id="rId45" Target="notesSlides/notesSlide7.xml" Type="http://schemas.openxmlformats.org/officeDocument/2006/relationships/notesSlide"/><Relationship Id="rId46" Target="notesSlides/notesSlide8.xml" Type="http://schemas.openxmlformats.org/officeDocument/2006/relationships/notesSlide"/><Relationship Id="rId47" Target="notesSlides/notesSlide9.xml" Type="http://schemas.openxmlformats.org/officeDocument/2006/relationships/notesSlide"/><Relationship Id="rId48" Target="notesSlides/notesSlide10.xml" Type="http://schemas.openxmlformats.org/officeDocument/2006/relationships/notesSlide"/><Relationship Id="rId49" Target="notesSlides/notesSlide11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12.xml" Type="http://schemas.openxmlformats.org/officeDocument/2006/relationships/notesSlide"/><Relationship Id="rId51" Target="notesSlides/notesSlide13.xml" Type="http://schemas.openxmlformats.org/officeDocument/2006/relationships/notesSlide"/><Relationship Id="rId52" Target="notesSlides/notesSlide14.xml" Type="http://schemas.openxmlformats.org/officeDocument/2006/relationships/notesSlide"/><Relationship Id="rId53" Target="notesSlides/notesSlide15.xml" Type="http://schemas.openxmlformats.org/officeDocument/2006/relationships/notesSlide"/><Relationship Id="rId54" Target="notesSlides/notesSlide16.xml" Type="http://schemas.openxmlformats.org/officeDocument/2006/relationships/notesSlide"/><Relationship Id="rId55" Target="notesSlides/notesSlide17.xml" Type="http://schemas.openxmlformats.org/officeDocument/2006/relationships/notesSlide"/><Relationship Id="rId56" Target="notesSlides/notesSlide18.xml" Type="http://schemas.openxmlformats.org/officeDocument/2006/relationships/notesSlide"/><Relationship Id="rId57" Target="notesSlides/notesSlide19.xml" Type="http://schemas.openxmlformats.org/officeDocument/2006/relationships/notesSlide"/><Relationship Id="rId58" Target="notesSlides/notesSlide20.xml" Type="http://schemas.openxmlformats.org/officeDocument/2006/relationships/notesSlide"/><Relationship Id="rId59" Target="notesSlides/notesSlide21.xml" Type="http://schemas.openxmlformats.org/officeDocument/2006/relationships/notesSlide"/><Relationship Id="rId6" Target="slides/slide1.xml" Type="http://schemas.openxmlformats.org/officeDocument/2006/relationships/slide"/><Relationship Id="rId60" Target="notesSlides/notesSlide22.xml" Type="http://schemas.openxmlformats.org/officeDocument/2006/relationships/notesSlide"/><Relationship Id="rId61" Target="notesSlides/notesSlide23.xml" Type="http://schemas.openxmlformats.org/officeDocument/2006/relationships/notesSlide"/><Relationship Id="rId62" Target="notesSlides/notesSlide24.xml" Type="http://schemas.openxmlformats.org/officeDocument/2006/relationships/notesSlide"/><Relationship Id="rId63" Target="notesSlides/notesSlide25.xml" Type="http://schemas.openxmlformats.org/officeDocument/2006/relationships/notes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4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4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7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4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4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9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4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Relationship Id="rId3" Target="../media/image4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4.xml" Type="http://schemas.openxmlformats.org/officeDocument/2006/relationships/notesSlid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5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43135" y="370513"/>
            <a:ext cx="2952969" cy="786136"/>
            <a:chOff x="0" y="0"/>
            <a:chExt cx="3937292" cy="10481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37254" cy="1048131"/>
            </a:xfrm>
            <a:custGeom>
              <a:avLst/>
              <a:gdLst/>
              <a:ahLst/>
              <a:cxnLst/>
              <a:rect r="r" b="b" t="t" l="l"/>
              <a:pathLst>
                <a:path h="1048131" w="3937254">
                  <a:moveTo>
                    <a:pt x="0" y="0"/>
                  </a:moveTo>
                  <a:lnTo>
                    <a:pt x="3937254" y="0"/>
                  </a:lnTo>
                  <a:lnTo>
                    <a:pt x="3937254" y="1048131"/>
                  </a:lnTo>
                  <a:lnTo>
                    <a:pt x="0" y="1048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2312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15810" y="605933"/>
            <a:ext cx="2513352" cy="315287"/>
          </a:xfrm>
          <a:custGeom>
            <a:avLst/>
            <a:gdLst/>
            <a:ahLst/>
            <a:cxnLst/>
            <a:rect r="r" b="b" t="t" l="l"/>
            <a:pathLst>
              <a:path h="315287" w="2513352">
                <a:moveTo>
                  <a:pt x="0" y="0"/>
                </a:moveTo>
                <a:lnTo>
                  <a:pt x="2513352" y="0"/>
                </a:lnTo>
                <a:lnTo>
                  <a:pt x="2513352" y="315287"/>
                </a:lnTo>
                <a:lnTo>
                  <a:pt x="0" y="3152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172486" y="4343400"/>
            <a:ext cx="17533363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51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Customers and Products Dimensional Modeling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001529" y="6521552"/>
            <a:ext cx="4515740" cy="962776"/>
            <a:chOff x="0" y="0"/>
            <a:chExt cx="5508699" cy="117447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508696" cy="1174485"/>
            </a:xfrm>
            <a:custGeom>
              <a:avLst/>
              <a:gdLst/>
              <a:ahLst/>
              <a:cxnLst/>
              <a:rect r="r" b="b" t="t" l="l"/>
              <a:pathLst>
                <a:path h="1174485" w="5508696">
                  <a:moveTo>
                    <a:pt x="0" y="0"/>
                  </a:moveTo>
                  <a:lnTo>
                    <a:pt x="5508696" y="0"/>
                  </a:lnTo>
                  <a:lnTo>
                    <a:pt x="5508696" y="1174485"/>
                  </a:lnTo>
                  <a:lnTo>
                    <a:pt x="0" y="117448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69133" r="-119471" b="-132019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5508699" cy="12411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00B3E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SIC 8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001529" y="7241955"/>
            <a:ext cx="2356647" cy="484746"/>
            <a:chOff x="0" y="0"/>
            <a:chExt cx="3142196" cy="64632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142200" cy="646331"/>
            </a:xfrm>
            <a:custGeom>
              <a:avLst/>
              <a:gdLst/>
              <a:ahLst/>
              <a:cxnLst/>
              <a:rect r="r" b="b" t="t" l="l"/>
              <a:pathLst>
                <a:path h="646331" w="3142200">
                  <a:moveTo>
                    <a:pt x="0" y="0"/>
                  </a:moveTo>
                  <a:lnTo>
                    <a:pt x="3142200" y="0"/>
                  </a:lnTo>
                  <a:lnTo>
                    <a:pt x="3142200" y="646331"/>
                  </a:lnTo>
                  <a:lnTo>
                    <a:pt x="0" y="64633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4728" r="0" b="-4472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3142196" cy="6653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>
                  <a:solidFill>
                    <a:srgbClr val="00B3E3"/>
                  </a:solidFill>
                  <a:latin typeface="Arial"/>
                  <a:ea typeface="Arial"/>
                  <a:cs typeface="Arial"/>
                  <a:sym typeface="Arial"/>
                </a:rPr>
                <a:t>BD Course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001529" y="7660026"/>
            <a:ext cx="855266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B3E3"/>
                </a:solidFill>
                <a:latin typeface="Calibri (MS)"/>
                <a:ea typeface="Calibri (MS)"/>
                <a:cs typeface="Calibri (MS)"/>
                <a:sym typeface="Calibri (MS)"/>
              </a:rPr>
              <a:t>G 16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0"/>
            <a:ext cx="18288000" cy="3105807"/>
            <a:chOff x="0" y="0"/>
            <a:chExt cx="24384000" cy="41410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141089"/>
            </a:xfrm>
            <a:custGeom>
              <a:avLst/>
              <a:gdLst/>
              <a:ahLst/>
              <a:cxnLst/>
              <a:rect r="r" b="b" t="t" l="l"/>
              <a:pathLst>
                <a:path h="414108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141089"/>
                  </a:lnTo>
                  <a:lnTo>
                    <a:pt x="0" y="4141089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57437" y="9514008"/>
            <a:ext cx="5334857" cy="31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55081" y="1279141"/>
            <a:ext cx="7433548" cy="883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Agenda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113151" y="3722513"/>
            <a:ext cx="8279101" cy="415500"/>
            <a:chOff x="0" y="0"/>
            <a:chExt cx="11038802" cy="55399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38800" cy="553998"/>
            </a:xfrm>
            <a:custGeom>
              <a:avLst/>
              <a:gdLst/>
              <a:ahLst/>
              <a:cxnLst/>
              <a:rect r="r" b="b" t="t" l="l"/>
              <a:pathLst>
                <a:path h="553998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8"/>
                  </a:lnTo>
                  <a:lnTo>
                    <a:pt x="0" y="5539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3" r="0" b="-33825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Team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838831" y="3720827"/>
            <a:ext cx="53997" cy="378000"/>
            <a:chOff x="0" y="0"/>
            <a:chExt cx="71996" cy="504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113151" y="4306129"/>
            <a:ext cx="8279101" cy="415500"/>
            <a:chOff x="0" y="0"/>
            <a:chExt cx="11038802" cy="55399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Introduction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838831" y="4304443"/>
            <a:ext cx="53997" cy="378000"/>
            <a:chOff x="0" y="0"/>
            <a:chExt cx="71996" cy="504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3093720" y="4840386"/>
            <a:ext cx="8279101" cy="415500"/>
            <a:chOff x="0" y="0"/>
            <a:chExt cx="11038802" cy="55399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Problem Statement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819400" y="4838700"/>
            <a:ext cx="53997" cy="378000"/>
            <a:chOff x="0" y="0"/>
            <a:chExt cx="71996" cy="504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3093720" y="5373767"/>
            <a:ext cx="8279101" cy="415500"/>
            <a:chOff x="0" y="0"/>
            <a:chExt cx="11038802" cy="55399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Methodology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819400" y="5372100"/>
            <a:ext cx="53997" cy="378000"/>
            <a:chOff x="0" y="0"/>
            <a:chExt cx="71996" cy="504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3113151" y="6693208"/>
            <a:ext cx="8279101" cy="415500"/>
            <a:chOff x="0" y="0"/>
            <a:chExt cx="11038802" cy="55399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038800" cy="553996"/>
            </a:xfrm>
            <a:custGeom>
              <a:avLst/>
              <a:gdLst/>
              <a:ahLst/>
              <a:cxnLst/>
              <a:rect r="r" b="b" t="t" l="l"/>
              <a:pathLst>
                <a:path h="553996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6"/>
                  </a:lnTo>
                  <a:lnTo>
                    <a:pt x="0" y="5539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4" r="0" b="-33825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11038802" cy="611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Results and Insights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838831" y="6691513"/>
            <a:ext cx="53997" cy="378000"/>
            <a:chOff x="0" y="0"/>
            <a:chExt cx="71996" cy="504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3113151" y="7285330"/>
            <a:ext cx="8279101" cy="415500"/>
            <a:chOff x="0" y="0"/>
            <a:chExt cx="11038802" cy="55399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038800" cy="553998"/>
            </a:xfrm>
            <a:custGeom>
              <a:avLst/>
              <a:gdLst/>
              <a:ahLst/>
              <a:cxnLst/>
              <a:rect r="r" b="b" t="t" l="l"/>
              <a:pathLst>
                <a:path h="553998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8"/>
                  </a:lnTo>
                  <a:lnTo>
                    <a:pt x="0" y="5539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3" r="0" b="-338253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Conclusion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838831" y="7283644"/>
            <a:ext cx="53997" cy="378000"/>
            <a:chOff x="0" y="0"/>
            <a:chExt cx="71996" cy="504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3113151" y="7880852"/>
            <a:ext cx="8279101" cy="415500"/>
            <a:chOff x="0" y="0"/>
            <a:chExt cx="11038802" cy="55399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Q&amp;A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2838831" y="7879166"/>
            <a:ext cx="53997" cy="378000"/>
            <a:chOff x="0" y="0"/>
            <a:chExt cx="71996" cy="504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3093720" y="6059586"/>
            <a:ext cx="8279101" cy="415500"/>
            <a:chOff x="0" y="0"/>
            <a:chExt cx="11038802" cy="55399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038800" cy="553998"/>
            </a:xfrm>
            <a:custGeom>
              <a:avLst/>
              <a:gdLst/>
              <a:ahLst/>
              <a:cxnLst/>
              <a:rect r="r" b="b" t="t" l="l"/>
              <a:pathLst>
                <a:path h="553998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8"/>
                  </a:lnTo>
                  <a:lnTo>
                    <a:pt x="0" y="5539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3" r="0" b="-338253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Key Tasks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2819400" y="6057900"/>
            <a:ext cx="53997" cy="378000"/>
            <a:chOff x="0" y="0"/>
            <a:chExt cx="71996" cy="504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0"/>
            <a:ext cx="18288000" cy="3105807"/>
            <a:chOff x="0" y="0"/>
            <a:chExt cx="24384000" cy="41410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141089"/>
            </a:xfrm>
            <a:custGeom>
              <a:avLst/>
              <a:gdLst/>
              <a:ahLst/>
              <a:cxnLst/>
              <a:rect r="r" b="b" t="t" l="l"/>
              <a:pathLst>
                <a:path h="414108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141089"/>
                  </a:lnTo>
                  <a:lnTo>
                    <a:pt x="0" y="4141089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6732" y="3177293"/>
            <a:ext cx="3956698" cy="3932415"/>
            <a:chOff x="0" y="0"/>
            <a:chExt cx="817819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7819" cy="812800"/>
            </a:xfrm>
            <a:custGeom>
              <a:avLst/>
              <a:gdLst/>
              <a:ahLst/>
              <a:cxnLst/>
              <a:rect r="r" b="b" t="t" l="l"/>
              <a:pathLst>
                <a:path h="812800" w="817819">
                  <a:moveTo>
                    <a:pt x="408910" y="0"/>
                  </a:moveTo>
                  <a:cubicBezTo>
                    <a:pt x="183075" y="0"/>
                    <a:pt x="0" y="181951"/>
                    <a:pt x="0" y="406400"/>
                  </a:cubicBezTo>
                  <a:cubicBezTo>
                    <a:pt x="0" y="630849"/>
                    <a:pt x="183075" y="812800"/>
                    <a:pt x="408910" y="812800"/>
                  </a:cubicBezTo>
                  <a:cubicBezTo>
                    <a:pt x="634744" y="812800"/>
                    <a:pt x="817819" y="630849"/>
                    <a:pt x="817819" y="406400"/>
                  </a:cubicBezTo>
                  <a:cubicBezTo>
                    <a:pt x="817819" y="181951"/>
                    <a:pt x="634744" y="0"/>
                    <a:pt x="408910" y="0"/>
                  </a:cubicBezTo>
                  <a:close/>
                </a:path>
              </a:pathLst>
            </a:custGeom>
            <a:blipFill>
              <a:blip r:embed="rId3"/>
              <a:stretch>
                <a:fillRect l="-3867" t="0" r="-3867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57437" y="9514008"/>
            <a:ext cx="5334857" cy="31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55081" y="1279141"/>
            <a:ext cx="1464112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Team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79776" y="7461427"/>
            <a:ext cx="435061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  <a:spcBef>
                <a:spcPct val="0"/>
              </a:spcBef>
            </a:pPr>
            <a:r>
              <a:rPr lang="en-US" sz="2999">
                <a:solidFill>
                  <a:srgbClr val="193EB0"/>
                </a:solidFill>
                <a:latin typeface="Archivo Black"/>
                <a:ea typeface="Archivo Black"/>
                <a:cs typeface="Archivo Black"/>
                <a:sym typeface="Archivo Black"/>
              </a:rPr>
              <a:t>Abdelrahman Ashraf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79776" y="8930626"/>
            <a:ext cx="5510756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2"/>
              </a:lnSpc>
            </a:pPr>
            <a:r>
              <a:rPr lang="en-US" sz="2443">
                <a:solidFill>
                  <a:srgbClr val="193EB0"/>
                </a:solidFill>
                <a:latin typeface="Archivo Black"/>
                <a:ea typeface="Archivo Black"/>
                <a:cs typeface="Archivo Black"/>
                <a:sym typeface="Archivo Black"/>
              </a:rPr>
              <a:t>Facilitated by Ganna Sabahy</a:t>
            </a:r>
          </a:p>
          <a:p>
            <a:pPr algn="ctr">
              <a:lnSpc>
                <a:spcPts val="2932"/>
              </a:lnSpc>
              <a:spcBef>
                <a:spcPct val="0"/>
              </a:spcBef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5187302" y="3177293"/>
            <a:ext cx="3956698" cy="3932415"/>
            <a:chOff x="0" y="0"/>
            <a:chExt cx="817819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7819" cy="812800"/>
            </a:xfrm>
            <a:custGeom>
              <a:avLst/>
              <a:gdLst/>
              <a:ahLst/>
              <a:cxnLst/>
              <a:rect r="r" b="b" t="t" l="l"/>
              <a:pathLst>
                <a:path h="812800" w="817819">
                  <a:moveTo>
                    <a:pt x="408910" y="0"/>
                  </a:moveTo>
                  <a:cubicBezTo>
                    <a:pt x="183075" y="0"/>
                    <a:pt x="0" y="181951"/>
                    <a:pt x="0" y="406400"/>
                  </a:cubicBezTo>
                  <a:cubicBezTo>
                    <a:pt x="0" y="630849"/>
                    <a:pt x="183075" y="812800"/>
                    <a:pt x="408910" y="812800"/>
                  </a:cubicBezTo>
                  <a:cubicBezTo>
                    <a:pt x="634744" y="812800"/>
                    <a:pt x="817819" y="630849"/>
                    <a:pt x="817819" y="406400"/>
                  </a:cubicBezTo>
                  <a:cubicBezTo>
                    <a:pt x="817819" y="181951"/>
                    <a:pt x="634744" y="0"/>
                    <a:pt x="40891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0546" r="0" b="-10546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5643760" y="7458348"/>
            <a:ext cx="304378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  <a:spcBef>
                <a:spcPct val="0"/>
              </a:spcBef>
            </a:pPr>
            <a:r>
              <a:rPr lang="en-US" sz="2999">
                <a:solidFill>
                  <a:srgbClr val="193EB0"/>
                </a:solidFill>
                <a:latin typeface="Archivo Black"/>
                <a:ea typeface="Archivo Black"/>
                <a:cs typeface="Archivo Black"/>
                <a:sym typeface="Archivo Black"/>
              </a:rPr>
              <a:t>Ahmed Helmy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520599" y="3316384"/>
            <a:ext cx="3956698" cy="3932415"/>
            <a:chOff x="0" y="0"/>
            <a:chExt cx="817819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7819" cy="812800"/>
            </a:xfrm>
            <a:custGeom>
              <a:avLst/>
              <a:gdLst/>
              <a:ahLst/>
              <a:cxnLst/>
              <a:rect r="r" b="b" t="t" l="l"/>
              <a:pathLst>
                <a:path h="812800" w="817819">
                  <a:moveTo>
                    <a:pt x="408910" y="0"/>
                  </a:moveTo>
                  <a:cubicBezTo>
                    <a:pt x="183075" y="0"/>
                    <a:pt x="0" y="181951"/>
                    <a:pt x="0" y="406400"/>
                  </a:cubicBezTo>
                  <a:cubicBezTo>
                    <a:pt x="0" y="630849"/>
                    <a:pt x="183075" y="812800"/>
                    <a:pt x="408910" y="812800"/>
                  </a:cubicBezTo>
                  <a:cubicBezTo>
                    <a:pt x="634744" y="812800"/>
                    <a:pt x="817819" y="630849"/>
                    <a:pt x="817819" y="406400"/>
                  </a:cubicBezTo>
                  <a:cubicBezTo>
                    <a:pt x="817819" y="181951"/>
                    <a:pt x="634744" y="0"/>
                    <a:pt x="408910" y="0"/>
                  </a:cubicBezTo>
                  <a:close/>
                </a:path>
              </a:pathLst>
            </a:custGeom>
            <a:solidFill>
              <a:srgbClr val="E6E6FA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0178108" y="5049229"/>
            <a:ext cx="2641681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  <a:spcBef>
                <a:spcPct val="0"/>
              </a:spcBef>
            </a:pPr>
            <a:r>
              <a:rPr lang="en-US" sz="3199">
                <a:solidFill>
                  <a:srgbClr val="CB6CE6"/>
                </a:solidFill>
                <a:latin typeface="Playwrite US Modern"/>
                <a:ea typeface="Playwrite US Modern"/>
                <a:cs typeface="Playwrite US Modern"/>
                <a:sym typeface="Playwrite US Modern"/>
              </a:rPr>
              <a:t>Mai Elsayed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328896" y="7458348"/>
            <a:ext cx="2666813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  <a:spcBef>
                <a:spcPct val="0"/>
              </a:spcBef>
            </a:pPr>
            <a:r>
              <a:rPr lang="en-US" sz="2999">
                <a:solidFill>
                  <a:srgbClr val="193EB0"/>
                </a:solidFill>
                <a:latin typeface="Archivo Black"/>
                <a:ea typeface="Archivo Black"/>
                <a:cs typeface="Archivo Black"/>
                <a:sym typeface="Archivo Black"/>
              </a:rPr>
              <a:t>Mai Elsayed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3858297" y="3316384"/>
            <a:ext cx="3956698" cy="3932415"/>
            <a:chOff x="0" y="0"/>
            <a:chExt cx="817819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7819" cy="812800"/>
            </a:xfrm>
            <a:custGeom>
              <a:avLst/>
              <a:gdLst/>
              <a:ahLst/>
              <a:cxnLst/>
              <a:rect r="r" b="b" t="t" l="l"/>
              <a:pathLst>
                <a:path h="812800" w="817819">
                  <a:moveTo>
                    <a:pt x="408910" y="0"/>
                  </a:moveTo>
                  <a:cubicBezTo>
                    <a:pt x="183075" y="0"/>
                    <a:pt x="0" y="181951"/>
                    <a:pt x="0" y="406400"/>
                  </a:cubicBezTo>
                  <a:cubicBezTo>
                    <a:pt x="0" y="630849"/>
                    <a:pt x="183075" y="812800"/>
                    <a:pt x="408910" y="812800"/>
                  </a:cubicBezTo>
                  <a:cubicBezTo>
                    <a:pt x="634744" y="812800"/>
                    <a:pt x="817819" y="630849"/>
                    <a:pt x="817819" y="406400"/>
                  </a:cubicBezTo>
                  <a:cubicBezTo>
                    <a:pt x="817819" y="181951"/>
                    <a:pt x="634744" y="0"/>
                    <a:pt x="408910" y="0"/>
                  </a:cubicBezTo>
                  <a:close/>
                </a:path>
              </a:pathLst>
            </a:custGeom>
            <a:solidFill>
              <a:srgbClr val="E6E6FA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3891618" y="5049229"/>
            <a:ext cx="3923378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  <a:spcBef>
                <a:spcPct val="0"/>
              </a:spcBef>
            </a:pPr>
            <a:r>
              <a:rPr lang="en-US" sz="3199">
                <a:solidFill>
                  <a:srgbClr val="CB6CE6"/>
                </a:solidFill>
                <a:latin typeface="Playwrite US Modern"/>
                <a:ea typeface="Playwrite US Modern"/>
                <a:cs typeface="Playwrite US Modern"/>
                <a:sym typeface="Playwrite US Modern"/>
              </a:rPr>
              <a:t>Dina Abdelmonem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042405" y="7458348"/>
            <a:ext cx="377259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  <a:spcBef>
                <a:spcPct val="0"/>
              </a:spcBef>
            </a:pPr>
            <a:r>
              <a:rPr lang="en-US" sz="2999">
                <a:solidFill>
                  <a:srgbClr val="193EB0"/>
                </a:solidFill>
                <a:latin typeface="Archivo Black"/>
                <a:ea typeface="Archivo Black"/>
                <a:cs typeface="Archivo Black"/>
                <a:sym typeface="Archivo Black"/>
              </a:rPr>
              <a:t>Dina Abdelmonem</a:t>
            </a: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0"/>
            <a:ext cx="18288000" cy="3105807"/>
            <a:chOff x="0" y="0"/>
            <a:chExt cx="24384000" cy="41410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141089"/>
            </a:xfrm>
            <a:custGeom>
              <a:avLst/>
              <a:gdLst/>
              <a:ahLst/>
              <a:cxnLst/>
              <a:rect r="r" b="b" t="t" l="l"/>
              <a:pathLst>
                <a:path h="414108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141089"/>
                  </a:lnTo>
                  <a:lnTo>
                    <a:pt x="0" y="4141089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57437" y="9514008"/>
            <a:ext cx="5334857" cy="31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55081" y="1279141"/>
            <a:ext cx="7433548" cy="883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Agenda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113151" y="3722513"/>
            <a:ext cx="8279101" cy="415500"/>
            <a:chOff x="0" y="0"/>
            <a:chExt cx="11038802" cy="55399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38800" cy="553998"/>
            </a:xfrm>
            <a:custGeom>
              <a:avLst/>
              <a:gdLst/>
              <a:ahLst/>
              <a:cxnLst/>
              <a:rect r="r" b="b" t="t" l="l"/>
              <a:pathLst>
                <a:path h="553998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8"/>
                  </a:lnTo>
                  <a:lnTo>
                    <a:pt x="0" y="5539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3" r="0" b="-33825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1038802" cy="611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Team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838831" y="3720827"/>
            <a:ext cx="53997" cy="378000"/>
            <a:chOff x="0" y="0"/>
            <a:chExt cx="71996" cy="504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113151" y="4306129"/>
            <a:ext cx="8279101" cy="415500"/>
            <a:chOff x="0" y="0"/>
            <a:chExt cx="11038802" cy="55399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Introduction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838831" y="4304443"/>
            <a:ext cx="53997" cy="378000"/>
            <a:chOff x="0" y="0"/>
            <a:chExt cx="71996" cy="504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1F497D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3113151" y="4845777"/>
            <a:ext cx="8279101" cy="415500"/>
            <a:chOff x="0" y="0"/>
            <a:chExt cx="11038802" cy="55399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Problem Statement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838831" y="4844091"/>
            <a:ext cx="53997" cy="378000"/>
            <a:chOff x="0" y="0"/>
            <a:chExt cx="71996" cy="504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3093720" y="5449967"/>
            <a:ext cx="8279101" cy="415500"/>
            <a:chOff x="0" y="0"/>
            <a:chExt cx="11038802" cy="55399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Methodology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819400" y="5448300"/>
            <a:ext cx="53997" cy="378000"/>
            <a:chOff x="0" y="0"/>
            <a:chExt cx="71996" cy="504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3113151" y="6693208"/>
            <a:ext cx="8279101" cy="415500"/>
            <a:chOff x="0" y="0"/>
            <a:chExt cx="11038802" cy="55399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038800" cy="553996"/>
            </a:xfrm>
            <a:custGeom>
              <a:avLst/>
              <a:gdLst/>
              <a:ahLst/>
              <a:cxnLst/>
              <a:rect r="r" b="b" t="t" l="l"/>
              <a:pathLst>
                <a:path h="553996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6"/>
                  </a:lnTo>
                  <a:lnTo>
                    <a:pt x="0" y="5539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4" r="0" b="-33825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11038802" cy="611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Results and Insights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838831" y="6691513"/>
            <a:ext cx="53997" cy="378000"/>
            <a:chOff x="0" y="0"/>
            <a:chExt cx="71996" cy="504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3113151" y="7285330"/>
            <a:ext cx="8279101" cy="415500"/>
            <a:chOff x="0" y="0"/>
            <a:chExt cx="11038802" cy="55399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038800" cy="553998"/>
            </a:xfrm>
            <a:custGeom>
              <a:avLst/>
              <a:gdLst/>
              <a:ahLst/>
              <a:cxnLst/>
              <a:rect r="r" b="b" t="t" l="l"/>
              <a:pathLst>
                <a:path h="553998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8"/>
                  </a:lnTo>
                  <a:lnTo>
                    <a:pt x="0" y="5539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3" r="0" b="-338253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Conclusion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838831" y="7283644"/>
            <a:ext cx="53997" cy="378000"/>
            <a:chOff x="0" y="0"/>
            <a:chExt cx="71996" cy="504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3113151" y="7880852"/>
            <a:ext cx="8279101" cy="415500"/>
            <a:chOff x="0" y="0"/>
            <a:chExt cx="11038802" cy="55399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Q&amp;A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2838831" y="7879166"/>
            <a:ext cx="53997" cy="378000"/>
            <a:chOff x="0" y="0"/>
            <a:chExt cx="71996" cy="504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3093720" y="6135786"/>
            <a:ext cx="8279101" cy="415500"/>
            <a:chOff x="0" y="0"/>
            <a:chExt cx="11038802" cy="55399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038800" cy="553998"/>
            </a:xfrm>
            <a:custGeom>
              <a:avLst/>
              <a:gdLst/>
              <a:ahLst/>
              <a:cxnLst/>
              <a:rect r="r" b="b" t="t" l="l"/>
              <a:pathLst>
                <a:path h="553998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8"/>
                  </a:lnTo>
                  <a:lnTo>
                    <a:pt x="0" y="5539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3" r="0" b="-338253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Key Tasks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2819400" y="6134100"/>
            <a:ext cx="53997" cy="378000"/>
            <a:chOff x="0" y="0"/>
            <a:chExt cx="71996" cy="504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57437" y="9514008"/>
            <a:ext cx="5334857" cy="31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819271" y="1938005"/>
            <a:ext cx="10512904" cy="1158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Introduction</a:t>
            </a:r>
          </a:p>
        </p:txBody>
      </p:sp>
      <p:sp>
        <p:nvSpPr>
          <p:cNvPr name="AutoShape 4" id="4"/>
          <p:cNvSpPr/>
          <p:nvPr/>
        </p:nvSpPr>
        <p:spPr>
          <a:xfrm flipH="true">
            <a:off x="2304748" y="3688870"/>
            <a:ext cx="53817" cy="4354955"/>
          </a:xfrm>
          <a:prstGeom prst="line">
            <a:avLst/>
          </a:prstGeom>
          <a:ln cap="rnd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2304748" y="3669820"/>
            <a:ext cx="14770839" cy="4686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5868" indent="-367934" lvl="1">
              <a:lnSpc>
                <a:spcPts val="4090"/>
              </a:lnSpc>
              <a:buFont typeface="Arial"/>
              <a:buChar char="•"/>
            </a:pPr>
            <a:r>
              <a:rPr lang="en-US" sz="3408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E-commerce platforms generate massive volumes of transactional data daily — customers, products, orders, and payments.</a:t>
            </a:r>
          </a:p>
          <a:p>
            <a:pPr algn="l">
              <a:lnSpc>
                <a:spcPts val="4090"/>
              </a:lnSpc>
            </a:pPr>
            <a:r>
              <a:rPr lang="en-US" sz="3408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l" marL="735868" indent="-367934" lvl="1">
              <a:lnSpc>
                <a:spcPts val="4090"/>
              </a:lnSpc>
              <a:buFont typeface="Arial"/>
              <a:buChar char="•"/>
            </a:pPr>
            <a:r>
              <a:rPr lang="en-US" sz="3408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This project builds a Data Warehouse pipeline using the Olist Brazilian E-Commerce dataset to transform raw operational data into analysis-ready dimensional models.</a:t>
            </a:r>
          </a:p>
          <a:p>
            <a:pPr algn="l">
              <a:lnSpc>
                <a:spcPts val="4090"/>
              </a:lnSpc>
            </a:pPr>
          </a:p>
          <a:p>
            <a:pPr algn="l" marL="735868" indent="-367934" lvl="1">
              <a:lnSpc>
                <a:spcPts val="4090"/>
              </a:lnSpc>
              <a:buFont typeface="Arial"/>
              <a:buChar char="•"/>
            </a:pPr>
            <a:r>
              <a:rPr lang="en-US" sz="3408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Goal: Enable business teams to answer questions like "who are our most valuable customers?" and "how has product pricing evolved?"</a:t>
            </a:r>
          </a:p>
        </p:txBody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0"/>
            <a:ext cx="18288000" cy="3105807"/>
            <a:chOff x="0" y="0"/>
            <a:chExt cx="24384000" cy="41410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141089"/>
            </a:xfrm>
            <a:custGeom>
              <a:avLst/>
              <a:gdLst/>
              <a:ahLst/>
              <a:cxnLst/>
              <a:rect r="r" b="b" t="t" l="l"/>
              <a:pathLst>
                <a:path h="414108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141089"/>
                  </a:lnTo>
                  <a:lnTo>
                    <a:pt x="0" y="4141089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57437" y="9514008"/>
            <a:ext cx="5334857" cy="31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55081" y="1279141"/>
            <a:ext cx="7433548" cy="883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Agenda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113151" y="3722513"/>
            <a:ext cx="8279101" cy="415500"/>
            <a:chOff x="0" y="0"/>
            <a:chExt cx="11038802" cy="55399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38800" cy="553998"/>
            </a:xfrm>
            <a:custGeom>
              <a:avLst/>
              <a:gdLst/>
              <a:ahLst/>
              <a:cxnLst/>
              <a:rect r="r" b="b" t="t" l="l"/>
              <a:pathLst>
                <a:path h="553998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8"/>
                  </a:lnTo>
                  <a:lnTo>
                    <a:pt x="0" y="5539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3" r="0" b="-33825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Team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838831" y="3720827"/>
            <a:ext cx="53997" cy="378000"/>
            <a:chOff x="0" y="0"/>
            <a:chExt cx="71996" cy="504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113151" y="4306129"/>
            <a:ext cx="8279101" cy="415500"/>
            <a:chOff x="0" y="0"/>
            <a:chExt cx="11038802" cy="55399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Introduction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838831" y="4304443"/>
            <a:ext cx="53997" cy="378000"/>
            <a:chOff x="0" y="0"/>
            <a:chExt cx="71996" cy="504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3113151" y="4845777"/>
            <a:ext cx="8279101" cy="415500"/>
            <a:chOff x="0" y="0"/>
            <a:chExt cx="11038802" cy="55399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Problem Statement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838831" y="4844091"/>
            <a:ext cx="53997" cy="378000"/>
            <a:chOff x="0" y="0"/>
            <a:chExt cx="71996" cy="504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3113151" y="6062529"/>
            <a:ext cx="8279101" cy="415500"/>
            <a:chOff x="0" y="0"/>
            <a:chExt cx="11038802" cy="55399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Methodology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838831" y="6060862"/>
            <a:ext cx="53997" cy="378000"/>
            <a:chOff x="0" y="0"/>
            <a:chExt cx="71996" cy="504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3113151" y="6693208"/>
            <a:ext cx="8279101" cy="415500"/>
            <a:chOff x="0" y="0"/>
            <a:chExt cx="11038802" cy="55399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038800" cy="553996"/>
            </a:xfrm>
            <a:custGeom>
              <a:avLst/>
              <a:gdLst/>
              <a:ahLst/>
              <a:cxnLst/>
              <a:rect r="r" b="b" t="t" l="l"/>
              <a:pathLst>
                <a:path h="553996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6"/>
                  </a:lnTo>
                  <a:lnTo>
                    <a:pt x="0" y="5539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4" r="0" b="-33825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11038802" cy="611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Results and Insights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838831" y="6691513"/>
            <a:ext cx="53997" cy="378000"/>
            <a:chOff x="0" y="0"/>
            <a:chExt cx="71996" cy="504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3113151" y="7285330"/>
            <a:ext cx="8279101" cy="415500"/>
            <a:chOff x="0" y="0"/>
            <a:chExt cx="11038802" cy="55399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038800" cy="553998"/>
            </a:xfrm>
            <a:custGeom>
              <a:avLst/>
              <a:gdLst/>
              <a:ahLst/>
              <a:cxnLst/>
              <a:rect r="r" b="b" t="t" l="l"/>
              <a:pathLst>
                <a:path h="553998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8"/>
                  </a:lnTo>
                  <a:lnTo>
                    <a:pt x="0" y="5539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3" r="0" b="-338253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Conclusion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838831" y="7283644"/>
            <a:ext cx="53997" cy="378000"/>
            <a:chOff x="0" y="0"/>
            <a:chExt cx="71996" cy="504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3113151" y="7880852"/>
            <a:ext cx="8279101" cy="415500"/>
            <a:chOff x="0" y="0"/>
            <a:chExt cx="11038802" cy="55399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Q&amp;A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2838831" y="7879166"/>
            <a:ext cx="53997" cy="378000"/>
            <a:chOff x="0" y="0"/>
            <a:chExt cx="71996" cy="504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3113151" y="5405809"/>
            <a:ext cx="8279101" cy="415500"/>
            <a:chOff x="0" y="0"/>
            <a:chExt cx="11038802" cy="55399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038800" cy="553998"/>
            </a:xfrm>
            <a:custGeom>
              <a:avLst/>
              <a:gdLst/>
              <a:ahLst/>
              <a:cxnLst/>
              <a:rect r="r" b="b" t="t" l="l"/>
              <a:pathLst>
                <a:path h="553998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8"/>
                  </a:lnTo>
                  <a:lnTo>
                    <a:pt x="0" y="5539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3" r="0" b="-338253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Key Tasks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2838831" y="5404123"/>
            <a:ext cx="53997" cy="378000"/>
            <a:chOff x="0" y="0"/>
            <a:chExt cx="71996" cy="504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57437" y="9514008"/>
            <a:ext cx="5334857" cy="31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666685" y="1557144"/>
            <a:ext cx="10512904" cy="1158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Problem Statement</a:t>
            </a:r>
          </a:p>
        </p:txBody>
      </p:sp>
      <p:sp>
        <p:nvSpPr>
          <p:cNvPr name="AutoShape 4" id="4"/>
          <p:cNvSpPr/>
          <p:nvPr/>
        </p:nvSpPr>
        <p:spPr>
          <a:xfrm>
            <a:off x="2310239" y="3067127"/>
            <a:ext cx="14286" cy="5162498"/>
          </a:xfrm>
          <a:prstGeom prst="line">
            <a:avLst/>
          </a:prstGeom>
          <a:ln cap="rnd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2324525" y="3047900"/>
            <a:ext cx="14934775" cy="525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6175" indent="-373087" lvl="1">
              <a:lnSpc>
                <a:spcPts val="4147"/>
              </a:lnSpc>
              <a:buFont typeface="Arial"/>
              <a:buChar char="•"/>
            </a:pPr>
            <a:r>
              <a:rPr lang="en-US" sz="34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Raw transacti</a:t>
            </a:r>
            <a:r>
              <a:rPr lang="en-US" sz="34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onal data (customers, orders, products) is scattered across normalized tables — not analysis-friendly.</a:t>
            </a:r>
          </a:p>
          <a:p>
            <a:pPr algn="l">
              <a:lnSpc>
                <a:spcPts val="4147"/>
              </a:lnSpc>
            </a:pPr>
          </a:p>
          <a:p>
            <a:pPr algn="l" marL="746175" indent="-373087" lvl="1">
              <a:lnSpc>
                <a:spcPts val="4147"/>
              </a:lnSpc>
              <a:buFont typeface="Arial"/>
              <a:buChar char="•"/>
            </a:pPr>
            <a:r>
              <a:rPr lang="en-US" sz="34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No historical tracking of product price changes over time.</a:t>
            </a:r>
          </a:p>
          <a:p>
            <a:pPr algn="l">
              <a:lnSpc>
                <a:spcPts val="4147"/>
              </a:lnSpc>
            </a:pPr>
          </a:p>
          <a:p>
            <a:pPr algn="l" marL="746175" indent="-373087" lvl="1">
              <a:lnSpc>
                <a:spcPts val="4147"/>
              </a:lnSpc>
              <a:buFont typeface="Arial"/>
              <a:buChar char="•"/>
            </a:pPr>
            <a:r>
              <a:rPr lang="en-US" sz="34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No way to identify or segment customers by value (who buys often, recently, and spends the most).</a:t>
            </a:r>
          </a:p>
          <a:p>
            <a:pPr algn="l">
              <a:lnSpc>
                <a:spcPts val="4147"/>
              </a:lnSpc>
            </a:pPr>
          </a:p>
          <a:p>
            <a:pPr algn="l" marL="746175" indent="-373087" lvl="1">
              <a:lnSpc>
                <a:spcPts val="4147"/>
              </a:lnSpc>
              <a:buFont typeface="Arial"/>
              <a:buChar char="•"/>
            </a:pPr>
            <a:r>
              <a:rPr lang="en-US" sz="34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Need: A dimensional model (Star Schema) that supports fast, reliable business intelligence queries.</a:t>
            </a:r>
          </a:p>
        </p:txBody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0"/>
            <a:ext cx="18288000" cy="3105807"/>
            <a:chOff x="0" y="0"/>
            <a:chExt cx="24384000" cy="41410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141089"/>
            </a:xfrm>
            <a:custGeom>
              <a:avLst/>
              <a:gdLst/>
              <a:ahLst/>
              <a:cxnLst/>
              <a:rect r="r" b="b" t="t" l="l"/>
              <a:pathLst>
                <a:path h="414108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141089"/>
                  </a:lnTo>
                  <a:lnTo>
                    <a:pt x="0" y="4141089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57437" y="9514008"/>
            <a:ext cx="5334857" cy="31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55081" y="1279141"/>
            <a:ext cx="7433548" cy="883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Agenda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113151" y="3722513"/>
            <a:ext cx="8279101" cy="415500"/>
            <a:chOff x="0" y="0"/>
            <a:chExt cx="11038802" cy="55399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38800" cy="553998"/>
            </a:xfrm>
            <a:custGeom>
              <a:avLst/>
              <a:gdLst/>
              <a:ahLst/>
              <a:cxnLst/>
              <a:rect r="r" b="b" t="t" l="l"/>
              <a:pathLst>
                <a:path h="553998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8"/>
                  </a:lnTo>
                  <a:lnTo>
                    <a:pt x="0" y="5539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3" r="0" b="-33825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Team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838831" y="3720827"/>
            <a:ext cx="53997" cy="378000"/>
            <a:chOff x="0" y="0"/>
            <a:chExt cx="71996" cy="504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093720" y="5449967"/>
            <a:ext cx="8279101" cy="415500"/>
            <a:chOff x="0" y="0"/>
            <a:chExt cx="11038802" cy="55399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Methodology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819400" y="5448300"/>
            <a:ext cx="53997" cy="378000"/>
            <a:chOff x="0" y="0"/>
            <a:chExt cx="71996" cy="504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3113151" y="6693208"/>
            <a:ext cx="8279101" cy="415500"/>
            <a:chOff x="0" y="0"/>
            <a:chExt cx="11038802" cy="55399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038800" cy="553996"/>
            </a:xfrm>
            <a:custGeom>
              <a:avLst/>
              <a:gdLst/>
              <a:ahLst/>
              <a:cxnLst/>
              <a:rect r="r" b="b" t="t" l="l"/>
              <a:pathLst>
                <a:path h="553996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6"/>
                  </a:lnTo>
                  <a:lnTo>
                    <a:pt x="0" y="5539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4" r="0" b="-33825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1038802" cy="611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Results and Insights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838831" y="6691513"/>
            <a:ext cx="53997" cy="378000"/>
            <a:chOff x="0" y="0"/>
            <a:chExt cx="71996" cy="504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3113151" y="7285330"/>
            <a:ext cx="8279101" cy="415500"/>
            <a:chOff x="0" y="0"/>
            <a:chExt cx="11038802" cy="55399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038800" cy="553998"/>
            </a:xfrm>
            <a:custGeom>
              <a:avLst/>
              <a:gdLst/>
              <a:ahLst/>
              <a:cxnLst/>
              <a:rect r="r" b="b" t="t" l="l"/>
              <a:pathLst>
                <a:path h="553998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8"/>
                  </a:lnTo>
                  <a:lnTo>
                    <a:pt x="0" y="5539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3" r="0" b="-338253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Conclusion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838831" y="7283644"/>
            <a:ext cx="53997" cy="378000"/>
            <a:chOff x="0" y="0"/>
            <a:chExt cx="71996" cy="504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3113151" y="7880852"/>
            <a:ext cx="8279101" cy="415500"/>
            <a:chOff x="0" y="0"/>
            <a:chExt cx="11038802" cy="55399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Q&amp;A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838831" y="7879166"/>
            <a:ext cx="53997" cy="378000"/>
            <a:chOff x="0" y="0"/>
            <a:chExt cx="71996" cy="504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3113151" y="4306129"/>
            <a:ext cx="8279101" cy="415500"/>
            <a:chOff x="0" y="0"/>
            <a:chExt cx="11038802" cy="55399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Introduction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838831" y="4304443"/>
            <a:ext cx="53997" cy="378000"/>
            <a:chOff x="0" y="0"/>
            <a:chExt cx="71996" cy="504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3093720" y="6059586"/>
            <a:ext cx="8279101" cy="415500"/>
            <a:chOff x="0" y="0"/>
            <a:chExt cx="11038802" cy="55399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038800" cy="553998"/>
            </a:xfrm>
            <a:custGeom>
              <a:avLst/>
              <a:gdLst/>
              <a:ahLst/>
              <a:cxnLst/>
              <a:rect r="r" b="b" t="t" l="l"/>
              <a:pathLst>
                <a:path h="553998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8"/>
                  </a:lnTo>
                  <a:lnTo>
                    <a:pt x="0" y="5539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3" r="0" b="-338253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Key Tasks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2819400" y="6057900"/>
            <a:ext cx="53997" cy="378000"/>
            <a:chOff x="0" y="0"/>
            <a:chExt cx="71996" cy="504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3113151" y="4845777"/>
            <a:ext cx="8279101" cy="415500"/>
            <a:chOff x="0" y="0"/>
            <a:chExt cx="11038802" cy="55399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Problem Statement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2838831" y="4844091"/>
            <a:ext cx="53997" cy="378000"/>
            <a:chOff x="0" y="0"/>
            <a:chExt cx="71996" cy="504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57437" y="9514008"/>
            <a:ext cx="5334857" cy="31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531639" y="1212790"/>
            <a:ext cx="4767759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39"/>
              </a:lnSpc>
            </a:pPr>
            <a:r>
              <a:rPr lang="en-US" sz="66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Methodology</a:t>
            </a:r>
          </a:p>
        </p:txBody>
      </p:sp>
      <p:sp>
        <p:nvSpPr>
          <p:cNvPr name="AutoShape 4" id="4"/>
          <p:cNvSpPr/>
          <p:nvPr/>
        </p:nvSpPr>
        <p:spPr>
          <a:xfrm>
            <a:off x="1686984" y="3022540"/>
            <a:ext cx="14287" cy="5068904"/>
          </a:xfrm>
          <a:prstGeom prst="line">
            <a:avLst/>
          </a:prstGeom>
          <a:ln cap="rnd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701272" y="3003490"/>
            <a:ext cx="15260365" cy="546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sz="27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Ingestion</a:t>
            </a:r>
            <a:r>
              <a:rPr lang="en-US" sz="27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Raw CSV files loaded into MariaDB via Batch Load, then connected to Spark using JDBC.</a:t>
            </a:r>
          </a:p>
          <a:p>
            <a:pPr algn="l">
              <a:lnSpc>
                <a:spcPts val="3359"/>
              </a:lnSpc>
            </a:pP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sz="27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St</a:t>
            </a:r>
            <a:r>
              <a:rPr lang="en-US" b="true" sz="27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orage</a:t>
            </a:r>
            <a:r>
              <a:rPr lang="en-US" sz="27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Data stored in Hadoop Distributed File System (HDFS) as part of the data lake.</a:t>
            </a:r>
          </a:p>
          <a:p>
            <a:pPr algn="l">
              <a:lnSpc>
                <a:spcPts val="3359"/>
              </a:lnSpc>
            </a:pP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sz="27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Processing</a:t>
            </a:r>
            <a:r>
              <a:rPr lang="en-US" sz="27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PySpark was used for data transformation (ETL jobs).</a:t>
            </a:r>
          </a:p>
          <a:p>
            <a:pPr algn="l">
              <a:lnSpc>
                <a:spcPts val="3359"/>
              </a:lnSpc>
            </a:pP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sz="27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Warehousing</a:t>
            </a:r>
            <a:r>
              <a:rPr lang="en-US" sz="27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Apache Hive external tables.</a:t>
            </a:r>
          </a:p>
          <a:p>
            <a:pPr algn="l">
              <a:lnSpc>
                <a:spcPts val="3359"/>
              </a:lnSpc>
            </a:pP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sz="27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Data Modeling</a:t>
            </a:r>
            <a:r>
              <a:rPr lang="en-US" sz="27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Employed a star schema with Fact and Dimension tables.</a:t>
            </a:r>
          </a:p>
          <a:p>
            <a:pPr algn="l">
              <a:lnSpc>
                <a:spcPts val="3359"/>
              </a:lnSpc>
            </a:pP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sz="27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SQL</a:t>
            </a:r>
            <a:r>
              <a:rPr lang="en-US" sz="27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Used HiveQL for KPI queries.</a:t>
            </a:r>
          </a:p>
          <a:p>
            <a:pPr algn="l">
              <a:lnSpc>
                <a:spcPts val="3359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1444978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4978" cy="812800"/>
            </a:xfrm>
            <a:custGeom>
              <a:avLst/>
              <a:gdLst/>
              <a:ahLst/>
              <a:cxnLst/>
              <a:rect r="r" b="b" t="t" l="l"/>
              <a:pathLst>
                <a:path h="812800" w="1444978">
                  <a:moveTo>
                    <a:pt x="0" y="0"/>
                  </a:moveTo>
                  <a:lnTo>
                    <a:pt x="1444978" y="0"/>
                  </a:lnTo>
                  <a:lnTo>
                    <a:pt x="1444978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3"/>
              <a:stretch>
                <a:fillRect l="-2975" t="0" r="-2975" b="0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0"/>
            <a:ext cx="18288000" cy="3105807"/>
            <a:chOff x="0" y="0"/>
            <a:chExt cx="24384000" cy="41410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141089"/>
            </a:xfrm>
            <a:custGeom>
              <a:avLst/>
              <a:gdLst/>
              <a:ahLst/>
              <a:cxnLst/>
              <a:rect r="r" b="b" t="t" l="l"/>
              <a:pathLst>
                <a:path h="414108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141089"/>
                  </a:lnTo>
                  <a:lnTo>
                    <a:pt x="0" y="4141089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57437" y="9514008"/>
            <a:ext cx="5334857" cy="31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55081" y="1279141"/>
            <a:ext cx="7433548" cy="883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Agenda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113151" y="3722513"/>
            <a:ext cx="8279101" cy="415500"/>
            <a:chOff x="0" y="0"/>
            <a:chExt cx="11038802" cy="55399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38800" cy="553998"/>
            </a:xfrm>
            <a:custGeom>
              <a:avLst/>
              <a:gdLst/>
              <a:ahLst/>
              <a:cxnLst/>
              <a:rect r="r" b="b" t="t" l="l"/>
              <a:pathLst>
                <a:path h="553998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8"/>
                  </a:lnTo>
                  <a:lnTo>
                    <a:pt x="0" y="5539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3" r="0" b="-33825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Team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838831" y="3720827"/>
            <a:ext cx="53997" cy="378000"/>
            <a:chOff x="0" y="0"/>
            <a:chExt cx="71996" cy="504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093720" y="5449967"/>
            <a:ext cx="8279101" cy="415500"/>
            <a:chOff x="0" y="0"/>
            <a:chExt cx="11038802" cy="55399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Methodology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819400" y="5448300"/>
            <a:ext cx="53997" cy="378000"/>
            <a:chOff x="0" y="0"/>
            <a:chExt cx="71996" cy="504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3113151" y="6693208"/>
            <a:ext cx="8279101" cy="415500"/>
            <a:chOff x="0" y="0"/>
            <a:chExt cx="11038802" cy="55399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038800" cy="553996"/>
            </a:xfrm>
            <a:custGeom>
              <a:avLst/>
              <a:gdLst/>
              <a:ahLst/>
              <a:cxnLst/>
              <a:rect r="r" b="b" t="t" l="l"/>
              <a:pathLst>
                <a:path h="553996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6"/>
                  </a:lnTo>
                  <a:lnTo>
                    <a:pt x="0" y="5539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4" r="0" b="-33825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1038802" cy="611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Results and Insights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838831" y="6691513"/>
            <a:ext cx="53997" cy="378000"/>
            <a:chOff x="0" y="0"/>
            <a:chExt cx="71996" cy="504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3113151" y="7285330"/>
            <a:ext cx="8279101" cy="415500"/>
            <a:chOff x="0" y="0"/>
            <a:chExt cx="11038802" cy="55399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038800" cy="553998"/>
            </a:xfrm>
            <a:custGeom>
              <a:avLst/>
              <a:gdLst/>
              <a:ahLst/>
              <a:cxnLst/>
              <a:rect r="r" b="b" t="t" l="l"/>
              <a:pathLst>
                <a:path h="553998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8"/>
                  </a:lnTo>
                  <a:lnTo>
                    <a:pt x="0" y="5539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3" r="0" b="-338253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Conclusion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838831" y="7283644"/>
            <a:ext cx="53997" cy="378000"/>
            <a:chOff x="0" y="0"/>
            <a:chExt cx="71996" cy="504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3113151" y="7880852"/>
            <a:ext cx="8279101" cy="415500"/>
            <a:chOff x="0" y="0"/>
            <a:chExt cx="11038802" cy="55399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Q&amp;A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838831" y="7879166"/>
            <a:ext cx="53997" cy="378000"/>
            <a:chOff x="0" y="0"/>
            <a:chExt cx="71996" cy="504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3113151" y="4306129"/>
            <a:ext cx="8279101" cy="415500"/>
            <a:chOff x="0" y="0"/>
            <a:chExt cx="11038802" cy="55399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Introduction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838831" y="4304443"/>
            <a:ext cx="53997" cy="378000"/>
            <a:chOff x="0" y="0"/>
            <a:chExt cx="71996" cy="504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3093720" y="6059586"/>
            <a:ext cx="8279101" cy="415500"/>
            <a:chOff x="0" y="0"/>
            <a:chExt cx="11038802" cy="55399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038800" cy="553998"/>
            </a:xfrm>
            <a:custGeom>
              <a:avLst/>
              <a:gdLst/>
              <a:ahLst/>
              <a:cxnLst/>
              <a:rect r="r" b="b" t="t" l="l"/>
              <a:pathLst>
                <a:path h="553998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8"/>
                  </a:lnTo>
                  <a:lnTo>
                    <a:pt x="0" y="5539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3" r="0" b="-338253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Key Tasks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2819400" y="6057900"/>
            <a:ext cx="53997" cy="378000"/>
            <a:chOff x="0" y="0"/>
            <a:chExt cx="71996" cy="504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3113151" y="4845777"/>
            <a:ext cx="8279101" cy="415500"/>
            <a:chOff x="0" y="0"/>
            <a:chExt cx="11038802" cy="55399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Problem Statement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2838831" y="4844091"/>
            <a:ext cx="53997" cy="378000"/>
            <a:chOff x="0" y="0"/>
            <a:chExt cx="71996" cy="504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</p:spTree>
  </p:cSld>
  <p:clrMapOvr>
    <a:masterClrMapping/>
  </p:clrMapOvr>
  <p:transition spd="slow">
    <p:push dir="l"/>
  </p:transition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57437" y="9514008"/>
            <a:ext cx="5334857" cy="31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23815" y="561682"/>
            <a:ext cx="3268167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Key Tasks</a:t>
            </a:r>
          </a:p>
        </p:txBody>
      </p:sp>
      <p:sp>
        <p:nvSpPr>
          <p:cNvPr name="AutoShape 4" id="4"/>
          <p:cNvSpPr/>
          <p:nvPr/>
        </p:nvSpPr>
        <p:spPr>
          <a:xfrm>
            <a:off x="2659395" y="2186000"/>
            <a:ext cx="0" cy="6757449"/>
          </a:xfrm>
          <a:prstGeom prst="line">
            <a:avLst/>
          </a:prstGeom>
          <a:ln cap="rnd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2659395" y="2166950"/>
            <a:ext cx="15221801" cy="6776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6345" indent="-373172" lvl="1">
              <a:lnSpc>
                <a:spcPts val="4148"/>
              </a:lnSpc>
              <a:buFont typeface="Arial"/>
              <a:buChar char="•"/>
            </a:pPr>
            <a:r>
              <a:rPr lang="en-US" sz="34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Ingest raw data from MySQL into Spark via JDBC </a:t>
            </a:r>
          </a:p>
          <a:p>
            <a:pPr algn="l">
              <a:lnSpc>
                <a:spcPts val="4148"/>
              </a:lnSpc>
            </a:pPr>
          </a:p>
          <a:p>
            <a:pPr algn="l" marL="746345" indent="-373172" lvl="1">
              <a:lnSpc>
                <a:spcPts val="4148"/>
              </a:lnSpc>
              <a:buFont typeface="Arial"/>
              <a:buChar char="•"/>
            </a:pPr>
            <a:r>
              <a:rPr lang="en-US" sz="34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Land raw data on HDFS (Raw Zone) as part of the Data Lake</a:t>
            </a:r>
          </a:p>
          <a:p>
            <a:pPr algn="l">
              <a:lnSpc>
                <a:spcPts val="4148"/>
              </a:lnSpc>
            </a:pPr>
          </a:p>
          <a:p>
            <a:pPr algn="l" marL="746345" indent="-373172" lvl="1">
              <a:lnSpc>
                <a:spcPts val="4148"/>
              </a:lnSpc>
              <a:buFont typeface="Arial"/>
              <a:buChar char="•"/>
            </a:pPr>
            <a:r>
              <a:rPr lang="en-US" sz="34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DFS (Raw Zone) as part of the Data Lake - Clean &amp; validate Customers, Products, Orders, and Payments data</a:t>
            </a:r>
          </a:p>
          <a:p>
            <a:pPr algn="l">
              <a:lnSpc>
                <a:spcPts val="4148"/>
              </a:lnSpc>
            </a:pPr>
            <a:r>
              <a:rPr lang="en-US" sz="34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l" marL="746345" indent="-373172" lvl="1">
              <a:lnSpc>
                <a:spcPts val="4148"/>
              </a:lnSpc>
              <a:buFont typeface="Arial"/>
              <a:buChar char="•"/>
            </a:pPr>
            <a:r>
              <a:rPr lang="en-US" sz="34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Buil</a:t>
            </a:r>
            <a:r>
              <a:rPr lang="en-US" sz="34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 Dim_Product with SCD Type 2 (historical price tracking)</a:t>
            </a:r>
          </a:p>
          <a:p>
            <a:pPr algn="l">
              <a:lnSpc>
                <a:spcPts val="4148"/>
              </a:lnSpc>
            </a:pPr>
          </a:p>
          <a:p>
            <a:pPr algn="l" marL="746345" indent="-373172" lvl="1">
              <a:lnSpc>
                <a:spcPts val="4148"/>
              </a:lnSpc>
              <a:buFont typeface="Arial"/>
              <a:buChar char="•"/>
            </a:pPr>
            <a:r>
              <a:rPr lang="en-US" sz="34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Calculate RFM Score (Recency, Frequency, Monetary) for                                          </a:t>
            </a:r>
          </a:p>
          <a:p>
            <a:pPr algn="l">
              <a:lnSpc>
                <a:spcPts val="4148"/>
              </a:lnSpc>
            </a:pPr>
            <a:r>
              <a:rPr lang="en-US" sz="34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    Dim_Customer</a:t>
            </a:r>
          </a:p>
          <a:p>
            <a:pPr algn="l">
              <a:lnSpc>
                <a:spcPts val="4148"/>
              </a:lnSpc>
            </a:pPr>
            <a:r>
              <a:rPr lang="en-US" sz="34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l" marL="746345" indent="-373172" lvl="1">
              <a:lnSpc>
                <a:spcPts val="4148"/>
              </a:lnSpc>
              <a:buFont typeface="Arial"/>
              <a:buChar char="•"/>
            </a:pPr>
            <a:r>
              <a:rPr lang="en-US" sz="34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Load final dimension tables into Hive as external tables</a:t>
            </a:r>
          </a:p>
        </p:txBody>
      </p:sp>
    </p:spTree>
  </p:cSld>
  <p:clrMapOvr>
    <a:masterClrMapping/>
  </p:clrMapOvr>
  <p:transition spd="slow">
    <p:push dir="l"/>
  </p:transition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57437" y="9514008"/>
            <a:ext cx="5334857" cy="31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215383" y="385763"/>
            <a:ext cx="8353822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Creating Dim-Date Table</a:t>
            </a:r>
          </a:p>
        </p:txBody>
      </p:sp>
      <p:sp>
        <p:nvSpPr>
          <p:cNvPr name="AutoShape 4" id="4"/>
          <p:cNvSpPr/>
          <p:nvPr/>
        </p:nvSpPr>
        <p:spPr>
          <a:xfrm flipH="true">
            <a:off x="1890280" y="2005503"/>
            <a:ext cx="0" cy="5936123"/>
          </a:xfrm>
          <a:prstGeom prst="line">
            <a:avLst/>
          </a:prstGeom>
          <a:ln cap="rnd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2518563" y="1986453"/>
            <a:ext cx="15221801" cy="625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8"/>
              </a:lnSpc>
            </a:pPr>
            <a:r>
              <a:rPr lang="en-US" sz="34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Dim_Date table was created from the or</a:t>
            </a:r>
            <a:r>
              <a:rPr lang="en-US" sz="34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der purchase dates and contains the main calend</a:t>
            </a:r>
            <a:r>
              <a:rPr lang="en-US" sz="34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 attributes required for time-based analysis.</a:t>
            </a:r>
          </a:p>
          <a:p>
            <a:pPr algn="l">
              <a:lnSpc>
                <a:spcPts val="4148"/>
              </a:lnSpc>
            </a:pPr>
          </a:p>
          <a:p>
            <a:pPr algn="l">
              <a:lnSpc>
                <a:spcPts val="4148"/>
              </a:lnSpc>
            </a:pPr>
            <a:r>
              <a:rPr lang="en-US" sz="34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dimension includes the following attributes:</a:t>
            </a:r>
          </a:p>
          <a:p>
            <a:pPr algn="l">
              <a:lnSpc>
                <a:spcPts val="4148"/>
              </a:lnSpc>
            </a:pPr>
          </a:p>
          <a:p>
            <a:pPr algn="l" marL="746345" indent="-373172" lvl="1">
              <a:lnSpc>
                <a:spcPts val="4148"/>
              </a:lnSpc>
              <a:buFont typeface="Arial"/>
              <a:buChar char="•"/>
            </a:pPr>
            <a:r>
              <a:rPr lang="en-US" sz="34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date_key – unique key use</a:t>
            </a:r>
            <a:r>
              <a:rPr lang="en-US" sz="34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 to link dates with the fact table.</a:t>
            </a:r>
          </a:p>
          <a:p>
            <a:pPr algn="l" marL="746345" indent="-373172" lvl="1">
              <a:lnSpc>
                <a:spcPts val="4148"/>
              </a:lnSpc>
              <a:buFont typeface="Arial"/>
              <a:buChar char="•"/>
            </a:pPr>
            <a:r>
              <a:rPr lang="en-US" sz="34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full_date – the complete calendar date.</a:t>
            </a:r>
          </a:p>
          <a:p>
            <a:pPr algn="l" marL="746345" indent="-373172" lvl="1">
              <a:lnSpc>
                <a:spcPts val="4148"/>
              </a:lnSpc>
              <a:buFont typeface="Arial"/>
              <a:buChar char="•"/>
            </a:pPr>
            <a:r>
              <a:rPr lang="en-US" sz="34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year – year of the date.</a:t>
            </a:r>
          </a:p>
          <a:p>
            <a:pPr algn="l" marL="746345" indent="-373172" lvl="1">
              <a:lnSpc>
                <a:spcPts val="4148"/>
              </a:lnSpc>
              <a:buFont typeface="Arial"/>
              <a:buChar char="•"/>
            </a:pPr>
            <a:r>
              <a:rPr lang="en-US" sz="34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quarter – quarter of the year.</a:t>
            </a:r>
          </a:p>
          <a:p>
            <a:pPr algn="l" marL="746345" indent="-373172" lvl="1">
              <a:lnSpc>
                <a:spcPts val="4148"/>
              </a:lnSpc>
              <a:buFont typeface="Arial"/>
              <a:buChar char="•"/>
            </a:pPr>
            <a:r>
              <a:rPr lang="en-US" sz="34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month – month of the year.</a:t>
            </a:r>
          </a:p>
          <a:p>
            <a:pPr algn="l" marL="746345" indent="-373172" lvl="1">
              <a:lnSpc>
                <a:spcPts val="4148"/>
              </a:lnSpc>
              <a:buFont typeface="Arial"/>
              <a:buChar char="•"/>
            </a:pPr>
            <a:r>
              <a:rPr lang="en-US" sz="34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day – day of the month.</a:t>
            </a:r>
          </a:p>
          <a:p>
            <a:pPr algn="l">
              <a:lnSpc>
                <a:spcPts val="4148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57437" y="9514008"/>
            <a:ext cx="5334857" cy="31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090782" y="385763"/>
            <a:ext cx="6526411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Creating Fact Table</a:t>
            </a:r>
          </a:p>
        </p:txBody>
      </p:sp>
      <p:sp>
        <p:nvSpPr>
          <p:cNvPr name="AutoShape 4" id="4"/>
          <p:cNvSpPr/>
          <p:nvPr/>
        </p:nvSpPr>
        <p:spPr>
          <a:xfrm>
            <a:off x="696559" y="1736893"/>
            <a:ext cx="0" cy="7521407"/>
          </a:xfrm>
          <a:prstGeom prst="line">
            <a:avLst/>
          </a:prstGeom>
          <a:ln cap="rnd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028700" y="1717843"/>
            <a:ext cx="17230563" cy="811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8"/>
              </a:lnSpc>
            </a:pPr>
            <a:r>
              <a:rPr lang="en-US" sz="31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Fact_Sales table was generated by combining the required transactional data from orders, products, and payments. It contains the main sales and order-related information required for analysis.</a:t>
            </a:r>
          </a:p>
          <a:p>
            <a:pPr algn="l">
              <a:lnSpc>
                <a:spcPts val="3788"/>
              </a:lnSpc>
            </a:pPr>
          </a:p>
          <a:p>
            <a:pPr algn="l">
              <a:lnSpc>
                <a:spcPts val="3788"/>
              </a:lnSpc>
            </a:pPr>
            <a:r>
              <a:rPr lang="en-US" sz="31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fact table includes:</a:t>
            </a:r>
          </a:p>
          <a:p>
            <a:pPr algn="l" marL="681576" indent="-340788" lvl="1">
              <a:lnSpc>
                <a:spcPts val="3788"/>
              </a:lnSpc>
              <a:buFont typeface="Arial"/>
              <a:buChar char="•"/>
            </a:pPr>
            <a:r>
              <a:rPr lang="en-US" sz="31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sales_key – unique key for each sales record.</a:t>
            </a:r>
          </a:p>
          <a:p>
            <a:pPr algn="l" marL="681576" indent="-340788" lvl="1">
              <a:lnSpc>
                <a:spcPts val="3788"/>
              </a:lnSpc>
              <a:buFont typeface="Arial"/>
              <a:buChar char="•"/>
            </a:pPr>
            <a:r>
              <a:rPr lang="en-US" sz="31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order_id – stored directly in the fact table as a degenerate dimension.</a:t>
            </a:r>
          </a:p>
          <a:p>
            <a:pPr algn="l" marL="681576" indent="-340788" lvl="1">
              <a:lnSpc>
                <a:spcPts val="3788"/>
              </a:lnSpc>
              <a:buFont typeface="Arial"/>
              <a:buChar char="•"/>
            </a:pPr>
            <a:r>
              <a:rPr lang="en-US" sz="31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cust_key – foreign key referencing Dim_Customer.</a:t>
            </a:r>
          </a:p>
          <a:p>
            <a:pPr algn="l" marL="681576" indent="-340788" lvl="1">
              <a:lnSpc>
                <a:spcPts val="3788"/>
              </a:lnSpc>
              <a:buFont typeface="Arial"/>
              <a:buChar char="•"/>
            </a:pPr>
            <a:r>
              <a:rPr lang="en-US" sz="31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product_key – foreign key referencing Dim_Product.</a:t>
            </a:r>
          </a:p>
          <a:p>
            <a:pPr algn="l" marL="681576" indent="-340788" lvl="1">
              <a:lnSpc>
                <a:spcPts val="3788"/>
              </a:lnSpc>
              <a:buFont typeface="Arial"/>
              <a:buChar char="•"/>
            </a:pPr>
            <a:r>
              <a:rPr lang="en-US" sz="31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order_purchase_date_key – foreign key referencing Dim_Date.</a:t>
            </a:r>
          </a:p>
          <a:p>
            <a:pPr algn="l" marL="681576" indent="-340788" lvl="1">
              <a:lnSpc>
                <a:spcPts val="3788"/>
              </a:lnSpc>
              <a:buFont typeface="Arial"/>
              <a:buChar char="•"/>
            </a:pPr>
            <a:r>
              <a:rPr lang="en-US" sz="31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order_status – status of the order.</a:t>
            </a:r>
          </a:p>
          <a:p>
            <a:pPr algn="l" marL="681576" indent="-340788" lvl="1">
              <a:lnSpc>
                <a:spcPts val="3788"/>
              </a:lnSpc>
              <a:buFont typeface="Arial"/>
              <a:buChar char="•"/>
            </a:pPr>
            <a:r>
              <a:rPr lang="en-US" sz="31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price – product price.</a:t>
            </a:r>
          </a:p>
          <a:p>
            <a:pPr algn="l" marL="681576" indent="-340788" lvl="1">
              <a:lnSpc>
                <a:spcPts val="3788"/>
              </a:lnSpc>
              <a:buFont typeface="Arial"/>
              <a:buChar char="•"/>
            </a:pPr>
            <a:r>
              <a:rPr lang="en-US" sz="31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freight_value – shipping/freight value.</a:t>
            </a:r>
          </a:p>
          <a:p>
            <a:pPr algn="l" marL="681576" indent="-340788" lvl="1">
              <a:lnSpc>
                <a:spcPts val="3788"/>
              </a:lnSpc>
              <a:buFont typeface="Arial"/>
              <a:buChar char="•"/>
            </a:pPr>
            <a:r>
              <a:rPr lang="en-US" sz="31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payment_value – payment amount.</a:t>
            </a:r>
          </a:p>
          <a:p>
            <a:pPr algn="l" marL="681576" indent="-340788" lvl="1">
              <a:lnSpc>
                <a:spcPts val="3788"/>
              </a:lnSpc>
              <a:buFont typeface="Arial"/>
              <a:buChar char="•"/>
            </a:pPr>
            <a:r>
              <a:rPr lang="en-US" sz="31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payment_type – payment method.</a:t>
            </a:r>
          </a:p>
          <a:p>
            <a:pPr algn="l" marL="681576" indent="-340788" lvl="1">
              <a:lnSpc>
                <a:spcPts val="3788"/>
              </a:lnSpc>
              <a:buFont typeface="Arial"/>
              <a:buChar char="•"/>
            </a:pPr>
            <a:r>
              <a:rPr lang="en-US" sz="31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order_year and order_month – partitioning attributes used to organize the fact data.</a:t>
            </a:r>
          </a:p>
          <a:p>
            <a:pPr algn="l">
              <a:lnSpc>
                <a:spcPts val="3788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1444978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4978" cy="812800"/>
            </a:xfrm>
            <a:custGeom>
              <a:avLst/>
              <a:gdLst/>
              <a:ahLst/>
              <a:cxnLst/>
              <a:rect r="r" b="b" t="t" l="l"/>
              <a:pathLst>
                <a:path h="812800" w="1444978">
                  <a:moveTo>
                    <a:pt x="0" y="0"/>
                  </a:moveTo>
                  <a:lnTo>
                    <a:pt x="1444978" y="0"/>
                  </a:lnTo>
                  <a:lnTo>
                    <a:pt x="1444978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3"/>
              <a:stretch>
                <a:fillRect l="-1908" t="0" r="-1908" b="0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0"/>
            <a:ext cx="18288000" cy="3105807"/>
            <a:chOff x="0" y="0"/>
            <a:chExt cx="24384000" cy="41410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141089"/>
            </a:xfrm>
            <a:custGeom>
              <a:avLst/>
              <a:gdLst/>
              <a:ahLst/>
              <a:cxnLst/>
              <a:rect r="r" b="b" t="t" l="l"/>
              <a:pathLst>
                <a:path h="414108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141089"/>
                  </a:lnTo>
                  <a:lnTo>
                    <a:pt x="0" y="4141089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57437" y="9514008"/>
            <a:ext cx="5334857" cy="31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55081" y="1279141"/>
            <a:ext cx="7433548" cy="883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Agenda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113151" y="3722513"/>
            <a:ext cx="8279101" cy="415500"/>
            <a:chOff x="0" y="0"/>
            <a:chExt cx="11038802" cy="55399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38800" cy="553998"/>
            </a:xfrm>
            <a:custGeom>
              <a:avLst/>
              <a:gdLst/>
              <a:ahLst/>
              <a:cxnLst/>
              <a:rect r="r" b="b" t="t" l="l"/>
              <a:pathLst>
                <a:path h="553998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8"/>
                  </a:lnTo>
                  <a:lnTo>
                    <a:pt x="0" y="5539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3" r="0" b="-33825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Team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838831" y="3720827"/>
            <a:ext cx="53997" cy="378000"/>
            <a:chOff x="0" y="0"/>
            <a:chExt cx="71996" cy="504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093720" y="5449967"/>
            <a:ext cx="8279101" cy="415500"/>
            <a:chOff x="0" y="0"/>
            <a:chExt cx="11038802" cy="55399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Methodology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819400" y="5448300"/>
            <a:ext cx="53997" cy="378000"/>
            <a:chOff x="0" y="0"/>
            <a:chExt cx="71996" cy="504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3093720" y="6609171"/>
            <a:ext cx="8279101" cy="557138"/>
            <a:chOff x="0" y="0"/>
            <a:chExt cx="11038802" cy="74285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038800" cy="742846"/>
            </a:xfrm>
            <a:custGeom>
              <a:avLst/>
              <a:gdLst/>
              <a:ahLst/>
              <a:cxnLst/>
              <a:rect r="r" b="b" t="t" l="l"/>
              <a:pathLst>
                <a:path h="742846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742846"/>
                  </a:lnTo>
                  <a:lnTo>
                    <a:pt x="0" y="7428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2261" r="0" b="-226839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11038802" cy="8095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Results and Insights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838831" y="6691513"/>
            <a:ext cx="53997" cy="378000"/>
            <a:chOff x="0" y="0"/>
            <a:chExt cx="71996" cy="504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1F497D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3113151" y="7285330"/>
            <a:ext cx="8279101" cy="415500"/>
            <a:chOff x="0" y="0"/>
            <a:chExt cx="11038802" cy="55399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038800" cy="553998"/>
            </a:xfrm>
            <a:custGeom>
              <a:avLst/>
              <a:gdLst/>
              <a:ahLst/>
              <a:cxnLst/>
              <a:rect r="r" b="b" t="t" l="l"/>
              <a:pathLst>
                <a:path h="553998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8"/>
                  </a:lnTo>
                  <a:lnTo>
                    <a:pt x="0" y="5539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3" r="0" b="-338253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Conclusion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838831" y="7283644"/>
            <a:ext cx="53997" cy="378000"/>
            <a:chOff x="0" y="0"/>
            <a:chExt cx="71996" cy="504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3113151" y="7880852"/>
            <a:ext cx="8279101" cy="415500"/>
            <a:chOff x="0" y="0"/>
            <a:chExt cx="11038802" cy="55399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Q&amp;A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838831" y="7879166"/>
            <a:ext cx="53997" cy="378000"/>
            <a:chOff x="0" y="0"/>
            <a:chExt cx="71996" cy="504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3113151" y="4306129"/>
            <a:ext cx="8279101" cy="415500"/>
            <a:chOff x="0" y="0"/>
            <a:chExt cx="11038802" cy="55399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Introduction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838831" y="4304443"/>
            <a:ext cx="53997" cy="378000"/>
            <a:chOff x="0" y="0"/>
            <a:chExt cx="71996" cy="504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3093720" y="5989291"/>
            <a:ext cx="8279101" cy="557752"/>
            <a:chOff x="0" y="0"/>
            <a:chExt cx="11038802" cy="74366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038800" cy="743667"/>
            </a:xfrm>
            <a:custGeom>
              <a:avLst/>
              <a:gdLst/>
              <a:ahLst/>
              <a:cxnLst/>
              <a:rect r="r" b="b" t="t" l="l"/>
              <a:pathLst>
                <a:path h="743667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743667"/>
                  </a:lnTo>
                  <a:lnTo>
                    <a:pt x="0" y="7436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1982" r="0" b="-226478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11038802" cy="7627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Key Tasks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2819400" y="6057900"/>
            <a:ext cx="53997" cy="378000"/>
            <a:chOff x="0" y="0"/>
            <a:chExt cx="71996" cy="504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3113151" y="4845777"/>
            <a:ext cx="8279101" cy="415500"/>
            <a:chOff x="0" y="0"/>
            <a:chExt cx="11038802" cy="55399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Problem Statement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2838831" y="4844091"/>
            <a:ext cx="53997" cy="378000"/>
            <a:chOff x="0" y="0"/>
            <a:chExt cx="71996" cy="504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</p:spTree>
  </p:cSld>
  <p:clrMapOvr>
    <a:masterClrMapping/>
  </p:clrMapOvr>
  <p:transition spd="slow">
    <p:push dir="l"/>
  </p:transition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57437" y="9514008"/>
            <a:ext cx="5334857" cy="31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56636" y="209843"/>
            <a:ext cx="6717903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Results and Insights</a:t>
            </a:r>
          </a:p>
        </p:txBody>
      </p:sp>
      <p:sp>
        <p:nvSpPr>
          <p:cNvPr name="AutoShape 4" id="4"/>
          <p:cNvSpPr/>
          <p:nvPr/>
        </p:nvSpPr>
        <p:spPr>
          <a:xfrm flipH="true">
            <a:off x="1057437" y="1825011"/>
            <a:ext cx="14287" cy="7088712"/>
          </a:xfrm>
          <a:prstGeom prst="line">
            <a:avLst/>
          </a:prstGeom>
          <a:ln cap="rnd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356636" y="1805926"/>
            <a:ext cx="15927161" cy="787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8"/>
              </a:lnSpc>
            </a:pPr>
            <a:r>
              <a:rPr lang="en-US" sz="34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456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Overview</a:t>
            </a:r>
          </a:p>
          <a:p>
            <a:pPr algn="l" marL="746345" indent="-373172" lvl="1">
              <a:lnSpc>
                <a:spcPts val="4148"/>
              </a:lnSpc>
              <a:buFont typeface="Arial"/>
              <a:buChar char="•"/>
            </a:pPr>
            <a:r>
              <a:rPr lang="en-US" sz="34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This section documents the Sales &amp; Customer Dashboard created in</a:t>
            </a:r>
            <a:r>
              <a:rPr lang="en-US" sz="34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Power BI, presenting key business metrics, pricing analysis, customer RFM segmentation, revenue trends over time, and customer geographic distribution.</a:t>
            </a:r>
          </a:p>
          <a:p>
            <a:pPr algn="l">
              <a:lnSpc>
                <a:spcPts val="4148"/>
              </a:lnSpc>
            </a:pPr>
            <a:r>
              <a:rPr lang="en-US" sz="34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sz="3456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KPI Cards</a:t>
            </a:r>
          </a:p>
          <a:p>
            <a:pPr algn="l" marL="746345" indent="-373172" lvl="1">
              <a:lnSpc>
                <a:spcPts val="4148"/>
              </a:lnSpc>
              <a:buFont typeface="Arial"/>
              <a:buChar char="•"/>
            </a:pPr>
            <a:r>
              <a:rPr lang="en-US" sz="34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Total Revenue | $15.74M</a:t>
            </a:r>
          </a:p>
          <a:p>
            <a:pPr algn="l" marL="746345" indent="-373172" lvl="1">
              <a:lnSpc>
                <a:spcPts val="4148"/>
              </a:lnSpc>
              <a:buFont typeface="Arial"/>
              <a:buChar char="•"/>
            </a:pPr>
            <a:r>
              <a:rPr lang="en-US" sz="34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Cumulative payment value across all orders. </a:t>
            </a:r>
          </a:p>
          <a:p>
            <a:pPr algn="l" marL="746345" indent="-373172" lvl="1">
              <a:lnSpc>
                <a:spcPts val="4148"/>
              </a:lnSpc>
              <a:buFont typeface="Arial"/>
              <a:buChar char="•"/>
            </a:pPr>
            <a:r>
              <a:rPr lang="en-US" sz="34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Total Customer | 96,092</a:t>
            </a:r>
          </a:p>
          <a:p>
            <a:pPr algn="l" marL="746345" indent="-373172" lvl="1">
              <a:lnSpc>
                <a:spcPts val="4148"/>
              </a:lnSpc>
              <a:buFont typeface="Arial"/>
              <a:buChar char="•"/>
            </a:pPr>
            <a:r>
              <a:rPr lang="en-US" sz="34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Total count of distinct customers. </a:t>
            </a:r>
          </a:p>
          <a:p>
            <a:pPr algn="l" marL="746345" indent="-373172" lvl="1">
              <a:lnSpc>
                <a:spcPts val="4148"/>
              </a:lnSpc>
              <a:buFont typeface="Arial"/>
              <a:buChar char="•"/>
            </a:pPr>
            <a:r>
              <a:rPr lang="en-US" sz="34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Avg Product Price | $145.7</a:t>
            </a:r>
          </a:p>
          <a:p>
            <a:pPr algn="l" marL="746345" indent="-373172" lvl="1">
              <a:lnSpc>
                <a:spcPts val="4148"/>
              </a:lnSpc>
              <a:buFont typeface="Arial"/>
              <a:buChar char="•"/>
            </a:pPr>
            <a:r>
              <a:rPr lang="en-US" sz="34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Average price of products. </a:t>
            </a:r>
          </a:p>
          <a:p>
            <a:pPr algn="l" marL="746345" indent="-373172" lvl="1">
              <a:lnSpc>
                <a:spcPts val="4148"/>
              </a:lnSpc>
              <a:buFont typeface="Arial"/>
              <a:buChar char="•"/>
            </a:pPr>
            <a:r>
              <a:rPr lang="en-US" sz="34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Avg Order Freight | $19.99</a:t>
            </a:r>
          </a:p>
          <a:p>
            <a:pPr algn="l" marL="746345" indent="-373172" lvl="1">
              <a:lnSpc>
                <a:spcPts val="4148"/>
              </a:lnSpc>
              <a:buFont typeface="Arial"/>
              <a:buChar char="•"/>
            </a:pPr>
            <a:r>
              <a:rPr lang="en-US" sz="34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Average freight value per order. </a:t>
            </a:r>
          </a:p>
          <a:p>
            <a:pPr algn="l">
              <a:lnSpc>
                <a:spcPts val="4148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0"/>
            <a:ext cx="16086009" cy="10287000"/>
            <a:chOff x="0" y="0"/>
            <a:chExt cx="1270993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70993" cy="812800"/>
            </a:xfrm>
            <a:custGeom>
              <a:avLst/>
              <a:gdLst/>
              <a:ahLst/>
              <a:cxnLst/>
              <a:rect r="r" b="b" t="t" l="l"/>
              <a:pathLst>
                <a:path h="812800" w="1270993">
                  <a:moveTo>
                    <a:pt x="0" y="0"/>
                  </a:moveTo>
                  <a:lnTo>
                    <a:pt x="1270993" y="0"/>
                  </a:lnTo>
                  <a:lnTo>
                    <a:pt x="1270993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3"/>
              <a:stretch>
                <a:fillRect l="-246" t="0" r="-246" b="0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57437" y="9514008"/>
            <a:ext cx="5334857" cy="31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56636" y="209843"/>
            <a:ext cx="9867305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ML (Late Delivery Prediction)</a:t>
            </a:r>
          </a:p>
        </p:txBody>
      </p:sp>
      <p:sp>
        <p:nvSpPr>
          <p:cNvPr name="AutoShape 4" id="4"/>
          <p:cNvSpPr/>
          <p:nvPr/>
        </p:nvSpPr>
        <p:spPr>
          <a:xfrm flipH="true">
            <a:off x="1057437" y="1825011"/>
            <a:ext cx="14287" cy="7088712"/>
          </a:xfrm>
          <a:prstGeom prst="line">
            <a:avLst/>
          </a:prstGeom>
          <a:ln cap="rnd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356636" y="1624951"/>
            <a:ext cx="15927161" cy="6954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84"/>
              </a:lnSpc>
            </a:pPr>
            <a:r>
              <a:rPr lang="en-US" sz="34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456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Objective</a:t>
            </a:r>
          </a:p>
          <a:p>
            <a:pPr algn="l" marL="746345" indent="-373172" lvl="1">
              <a:lnSpc>
                <a:spcPts val="4148"/>
              </a:lnSpc>
              <a:buFont typeface="Arial"/>
              <a:buChar char="•"/>
            </a:pPr>
            <a:r>
              <a:rPr lang="en-US" sz="34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Predict whether an e-commerce order will arrive late to proactively manage supply chain bottlenecks.</a:t>
            </a:r>
          </a:p>
          <a:p>
            <a:pPr algn="l">
              <a:lnSpc>
                <a:spcPts val="4148"/>
              </a:lnSpc>
            </a:pPr>
          </a:p>
          <a:p>
            <a:pPr algn="l">
              <a:lnSpc>
                <a:spcPts val="4424"/>
              </a:lnSpc>
            </a:pPr>
            <a:r>
              <a:rPr lang="en-US" sz="34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sz="3456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Technical approach</a:t>
            </a:r>
          </a:p>
          <a:p>
            <a:pPr algn="l" marL="746345" indent="-373172" lvl="1">
              <a:lnSpc>
                <a:spcPts val="4182"/>
              </a:lnSpc>
              <a:buFont typeface="Arial"/>
              <a:buChar char="•"/>
            </a:pPr>
            <a:r>
              <a:rPr lang="en-US" sz="34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Engineered Features: Vect</a:t>
            </a:r>
            <a:r>
              <a:rPr lang="en-US" sz="34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orized numerical and categorical data, focusing heavily on physical logistics and customer geographyCumulative payment value across all orders. </a:t>
            </a:r>
          </a:p>
          <a:p>
            <a:pPr algn="l" marL="746345" indent="-373172" lvl="1">
              <a:lnSpc>
                <a:spcPts val="6602"/>
              </a:lnSpc>
              <a:buFont typeface="Arial"/>
              <a:buChar char="•"/>
            </a:pPr>
            <a:r>
              <a:rPr lang="en-US" sz="34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Algorithm of Choice: PySpark MLlib Random Forest Classifier.</a:t>
            </a:r>
          </a:p>
          <a:p>
            <a:pPr algn="l" marL="746345" indent="-373172" lvl="1">
              <a:lnSpc>
                <a:spcPts val="4148"/>
              </a:lnSpc>
              <a:buFont typeface="Arial"/>
              <a:buChar char="•"/>
            </a:pPr>
            <a:r>
              <a:rPr lang="en-US" sz="34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 Selection: Chosen for its high interpretability and robustness against overfitting, outperforming initial alternative baseline models.</a:t>
            </a:r>
          </a:p>
          <a:p>
            <a:pPr algn="l">
              <a:lnSpc>
                <a:spcPts val="4148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57437" y="9514008"/>
            <a:ext cx="5334857" cy="31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85762"/>
            <a:ext cx="9867305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ML (Late Delivery Prediction)</a:t>
            </a:r>
          </a:p>
        </p:txBody>
      </p:sp>
      <p:sp>
        <p:nvSpPr>
          <p:cNvPr name="AutoShape 4" id="4"/>
          <p:cNvSpPr/>
          <p:nvPr/>
        </p:nvSpPr>
        <p:spPr>
          <a:xfrm flipH="true">
            <a:off x="1042987" y="1997740"/>
            <a:ext cx="43024" cy="5659962"/>
          </a:xfrm>
          <a:prstGeom prst="line">
            <a:avLst/>
          </a:prstGeom>
          <a:ln cap="rnd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370923" y="1807240"/>
            <a:ext cx="15378879" cy="6482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4"/>
              </a:lnSpc>
            </a:pPr>
            <a:r>
              <a:rPr lang="en-US" sz="333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37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What Drives Shipping Delays?</a:t>
            </a:r>
          </a:p>
          <a:p>
            <a:pPr algn="l" marL="720652" indent="-360326" lvl="1">
              <a:lnSpc>
                <a:spcPts val="3838"/>
              </a:lnSpc>
              <a:buFont typeface="Arial"/>
              <a:buChar char="•"/>
            </a:pPr>
            <a:r>
              <a:rPr lang="en-US" sz="3337" spc="3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Logistics &amp; Geography: The model identified total_weight, freight_value, and customer_state as the highest predictors of late deliveries.</a:t>
            </a:r>
          </a:p>
          <a:p>
            <a:pPr algn="l" marL="720652" indent="-360326" lvl="1">
              <a:lnSpc>
                <a:spcPts val="4205"/>
              </a:lnSpc>
              <a:buFont typeface="Arial"/>
              <a:buChar char="•"/>
            </a:pPr>
            <a:r>
              <a:rPr lang="en-US" sz="333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Myth Busted: Internal payment approvals and order processing times were not significant factors in delivery delays.</a:t>
            </a:r>
          </a:p>
          <a:p>
            <a:pPr algn="l">
              <a:lnSpc>
                <a:spcPts val="4205"/>
              </a:lnSpc>
            </a:pPr>
          </a:p>
          <a:p>
            <a:pPr algn="l">
              <a:lnSpc>
                <a:spcPts val="7910"/>
              </a:lnSpc>
            </a:pPr>
            <a:r>
              <a:rPr lang="en-US" sz="333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sz="3337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Actionable Business Value:</a:t>
            </a:r>
          </a:p>
          <a:p>
            <a:pPr algn="l" marL="720652" indent="-360326" lvl="1">
              <a:lnSpc>
                <a:spcPts val="4639"/>
              </a:lnSpc>
              <a:buFont typeface="Arial"/>
              <a:buChar char="•"/>
            </a:pPr>
            <a:r>
              <a:rPr lang="en-US" sz="333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Enables the operations team to optimize heavy-freight carriers. </a:t>
            </a:r>
          </a:p>
          <a:p>
            <a:pPr algn="l" marL="720652" indent="-360326" lvl="1">
              <a:lnSpc>
                <a:spcPts val="4005"/>
              </a:lnSpc>
              <a:buFont typeface="Arial"/>
              <a:buChar char="•"/>
            </a:pPr>
            <a:r>
              <a:rPr lang="en-US" sz="333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333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llows the business to target and negotiate better SLAs for problematic shipping routes. </a:t>
            </a:r>
          </a:p>
          <a:p>
            <a:pPr algn="l">
              <a:lnSpc>
                <a:spcPts val="4005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0"/>
            <a:ext cx="18288000" cy="3105807"/>
            <a:chOff x="0" y="0"/>
            <a:chExt cx="24384000" cy="41410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141089"/>
            </a:xfrm>
            <a:custGeom>
              <a:avLst/>
              <a:gdLst/>
              <a:ahLst/>
              <a:cxnLst/>
              <a:rect r="r" b="b" t="t" l="l"/>
              <a:pathLst>
                <a:path h="414108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141089"/>
                  </a:lnTo>
                  <a:lnTo>
                    <a:pt x="0" y="4141089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57437" y="9514008"/>
            <a:ext cx="5334857" cy="31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55081" y="1279141"/>
            <a:ext cx="7433548" cy="883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Agenda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113151" y="3722513"/>
            <a:ext cx="8279101" cy="415500"/>
            <a:chOff x="0" y="0"/>
            <a:chExt cx="11038802" cy="55399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38800" cy="553998"/>
            </a:xfrm>
            <a:custGeom>
              <a:avLst/>
              <a:gdLst/>
              <a:ahLst/>
              <a:cxnLst/>
              <a:rect r="r" b="b" t="t" l="l"/>
              <a:pathLst>
                <a:path h="553998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8"/>
                  </a:lnTo>
                  <a:lnTo>
                    <a:pt x="0" y="5539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3" r="0" b="-33825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Team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838831" y="3720827"/>
            <a:ext cx="53997" cy="378000"/>
            <a:chOff x="0" y="0"/>
            <a:chExt cx="71996" cy="504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093720" y="5449967"/>
            <a:ext cx="8279101" cy="415500"/>
            <a:chOff x="0" y="0"/>
            <a:chExt cx="11038802" cy="55399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Methodology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819400" y="5448300"/>
            <a:ext cx="53997" cy="378000"/>
            <a:chOff x="0" y="0"/>
            <a:chExt cx="71996" cy="504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3093720" y="6609171"/>
            <a:ext cx="8279101" cy="557138"/>
            <a:chOff x="0" y="0"/>
            <a:chExt cx="11038802" cy="74285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038800" cy="742846"/>
            </a:xfrm>
            <a:custGeom>
              <a:avLst/>
              <a:gdLst/>
              <a:ahLst/>
              <a:cxnLst/>
              <a:rect r="r" b="b" t="t" l="l"/>
              <a:pathLst>
                <a:path h="742846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742846"/>
                  </a:lnTo>
                  <a:lnTo>
                    <a:pt x="0" y="7428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2261" r="0" b="-226839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11038802" cy="8095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808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Results and Insights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838831" y="6691513"/>
            <a:ext cx="53997" cy="378000"/>
            <a:chOff x="0" y="0"/>
            <a:chExt cx="71996" cy="504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3093720" y="7193767"/>
            <a:ext cx="8279101" cy="557752"/>
            <a:chOff x="0" y="0"/>
            <a:chExt cx="11038802" cy="74366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038800" cy="743667"/>
            </a:xfrm>
            <a:custGeom>
              <a:avLst/>
              <a:gdLst/>
              <a:ahLst/>
              <a:cxnLst/>
              <a:rect r="r" b="b" t="t" l="l"/>
              <a:pathLst>
                <a:path h="743667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743667"/>
                  </a:lnTo>
                  <a:lnTo>
                    <a:pt x="0" y="7436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1982" r="0" b="-22647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11038802" cy="7627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b="true" sz="27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Conclusion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838831" y="7283644"/>
            <a:ext cx="53997" cy="378000"/>
            <a:chOff x="0" y="0"/>
            <a:chExt cx="71996" cy="504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1F497D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3113151" y="7880852"/>
            <a:ext cx="8279101" cy="415500"/>
            <a:chOff x="0" y="0"/>
            <a:chExt cx="11038802" cy="55399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Q&amp;A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838831" y="7879166"/>
            <a:ext cx="53997" cy="378000"/>
            <a:chOff x="0" y="0"/>
            <a:chExt cx="71996" cy="504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3113151" y="4306129"/>
            <a:ext cx="8279101" cy="415500"/>
            <a:chOff x="0" y="0"/>
            <a:chExt cx="11038802" cy="55399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Introduction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838831" y="4304443"/>
            <a:ext cx="53997" cy="378000"/>
            <a:chOff x="0" y="0"/>
            <a:chExt cx="71996" cy="504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3093720" y="5989291"/>
            <a:ext cx="8279101" cy="557752"/>
            <a:chOff x="0" y="0"/>
            <a:chExt cx="11038802" cy="74366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038800" cy="743667"/>
            </a:xfrm>
            <a:custGeom>
              <a:avLst/>
              <a:gdLst/>
              <a:ahLst/>
              <a:cxnLst/>
              <a:rect r="r" b="b" t="t" l="l"/>
              <a:pathLst>
                <a:path h="743667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743667"/>
                  </a:lnTo>
                  <a:lnTo>
                    <a:pt x="0" y="7436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1982" r="0" b="-226478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11038802" cy="7627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Key Tasks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2819400" y="6057900"/>
            <a:ext cx="53997" cy="378000"/>
            <a:chOff x="0" y="0"/>
            <a:chExt cx="71996" cy="504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3113151" y="4845777"/>
            <a:ext cx="8279101" cy="415500"/>
            <a:chOff x="0" y="0"/>
            <a:chExt cx="11038802" cy="55399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Problem Statement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2838831" y="4844091"/>
            <a:ext cx="53997" cy="378000"/>
            <a:chOff x="0" y="0"/>
            <a:chExt cx="71996" cy="504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</p:spTree>
  </p:cSld>
  <p:clrMapOvr>
    <a:masterClrMapping/>
  </p:clrMapOvr>
  <p:transition spd="slow">
    <p:push dir="l"/>
  </p:transition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57437" y="9514008"/>
            <a:ext cx="5334857" cy="31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673178" y="885825"/>
            <a:ext cx="3719116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Conclusion</a:t>
            </a:r>
          </a:p>
        </p:txBody>
      </p:sp>
      <p:sp>
        <p:nvSpPr>
          <p:cNvPr name="AutoShape 4" id="4"/>
          <p:cNvSpPr/>
          <p:nvPr/>
        </p:nvSpPr>
        <p:spPr>
          <a:xfrm>
            <a:off x="1639855" y="2363295"/>
            <a:ext cx="0" cy="5198038"/>
          </a:xfrm>
          <a:prstGeom prst="line">
            <a:avLst/>
          </a:prstGeom>
          <a:ln cap="rnd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710792" y="2344245"/>
            <a:ext cx="15548508" cy="5217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6345" indent="-373172" lvl="1">
              <a:lnSpc>
                <a:spcPts val="4148"/>
              </a:lnSpc>
              <a:buFont typeface="Arial"/>
              <a:buChar char="•"/>
            </a:pPr>
            <a:r>
              <a:rPr lang="en-US" sz="34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Built an end-to-end batch ETL pipeline: MySQL → HDFS → Spark → Hive</a:t>
            </a:r>
          </a:p>
          <a:p>
            <a:pPr algn="l">
              <a:lnSpc>
                <a:spcPts val="4148"/>
              </a:lnSpc>
            </a:pPr>
            <a:r>
              <a:rPr lang="en-US" sz="34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l" marL="746345" indent="-373172" lvl="1">
              <a:lnSpc>
                <a:spcPts val="4148"/>
              </a:lnSpc>
              <a:buFont typeface="Arial"/>
              <a:buChar char="•"/>
            </a:pPr>
            <a:r>
              <a:rPr lang="en-US" sz="34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Delivered two production-ready dime</a:t>
            </a:r>
            <a:r>
              <a:rPr lang="en-US" sz="34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nsion tables (Dim_Product, Dim_Customer) following industry-standard Star Schema design</a:t>
            </a:r>
          </a:p>
          <a:p>
            <a:pPr algn="l">
              <a:lnSpc>
                <a:spcPts val="4148"/>
              </a:lnSpc>
            </a:pPr>
          </a:p>
          <a:p>
            <a:pPr algn="l" marL="746345" indent="-373172" lvl="1">
              <a:lnSpc>
                <a:spcPts val="4148"/>
              </a:lnSpc>
              <a:buFont typeface="Arial"/>
              <a:buChar char="•"/>
            </a:pPr>
            <a:r>
              <a:rPr lang="en-US" sz="34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Demonstrated key </a:t>
            </a:r>
            <a:r>
              <a:rPr lang="en-US" sz="34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engineering concepts: SCD Type 2, RFM analysis, and Data Lake zoning</a:t>
            </a:r>
          </a:p>
          <a:p>
            <a:pPr algn="l">
              <a:lnSpc>
                <a:spcPts val="4148"/>
              </a:lnSpc>
            </a:pPr>
            <a:r>
              <a:rPr lang="en-US" sz="34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l" marL="746345" indent="-373172" lvl="1">
              <a:lnSpc>
                <a:spcPts val="4148"/>
              </a:lnSpc>
              <a:buFont typeface="Arial"/>
              <a:buChar char="•"/>
            </a:pPr>
            <a:r>
              <a:rPr lang="en-US" sz="34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Foundation ready for future Fact tables (Sales, Logistics) , BI dashboards and ML Models</a:t>
            </a:r>
          </a:p>
        </p:txBody>
      </p:sp>
    </p:spTree>
  </p:cSld>
  <p:clrMapOvr>
    <a:masterClrMapping/>
  </p:clrMapOvr>
  <p:transition spd="slow">
    <p:push dir="l"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0"/>
            <a:ext cx="18288000" cy="3105807"/>
            <a:chOff x="0" y="0"/>
            <a:chExt cx="24384000" cy="41410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141089"/>
            </a:xfrm>
            <a:custGeom>
              <a:avLst/>
              <a:gdLst/>
              <a:ahLst/>
              <a:cxnLst/>
              <a:rect r="r" b="b" t="t" l="l"/>
              <a:pathLst>
                <a:path h="414108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141089"/>
                  </a:lnTo>
                  <a:lnTo>
                    <a:pt x="0" y="4141089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57437" y="9514008"/>
            <a:ext cx="5334857" cy="31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55081" y="1279141"/>
            <a:ext cx="7433548" cy="883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Agenda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113151" y="3722513"/>
            <a:ext cx="8279101" cy="415500"/>
            <a:chOff x="0" y="0"/>
            <a:chExt cx="11038802" cy="55399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38800" cy="553998"/>
            </a:xfrm>
            <a:custGeom>
              <a:avLst/>
              <a:gdLst/>
              <a:ahLst/>
              <a:cxnLst/>
              <a:rect r="r" b="b" t="t" l="l"/>
              <a:pathLst>
                <a:path h="553998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8"/>
                  </a:lnTo>
                  <a:lnTo>
                    <a:pt x="0" y="5539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3" r="0" b="-33825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Team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838831" y="3720827"/>
            <a:ext cx="53997" cy="378000"/>
            <a:chOff x="0" y="0"/>
            <a:chExt cx="71996" cy="504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093720" y="5449967"/>
            <a:ext cx="8279101" cy="415500"/>
            <a:chOff x="0" y="0"/>
            <a:chExt cx="11038802" cy="55399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Methodology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819400" y="5448300"/>
            <a:ext cx="53997" cy="378000"/>
            <a:chOff x="0" y="0"/>
            <a:chExt cx="71996" cy="504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3093720" y="6609171"/>
            <a:ext cx="8279101" cy="557138"/>
            <a:chOff x="0" y="0"/>
            <a:chExt cx="11038802" cy="74285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038800" cy="742846"/>
            </a:xfrm>
            <a:custGeom>
              <a:avLst/>
              <a:gdLst/>
              <a:ahLst/>
              <a:cxnLst/>
              <a:rect r="r" b="b" t="t" l="l"/>
              <a:pathLst>
                <a:path h="742846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742846"/>
                  </a:lnTo>
                  <a:lnTo>
                    <a:pt x="0" y="7428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2261" r="0" b="-226839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11038802" cy="8095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808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Results and Insights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838831" y="6691513"/>
            <a:ext cx="53997" cy="378000"/>
            <a:chOff x="0" y="0"/>
            <a:chExt cx="71996" cy="504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3093720" y="7193767"/>
            <a:ext cx="8279101" cy="557752"/>
            <a:chOff x="0" y="0"/>
            <a:chExt cx="11038802" cy="74366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038800" cy="743667"/>
            </a:xfrm>
            <a:custGeom>
              <a:avLst/>
              <a:gdLst/>
              <a:ahLst/>
              <a:cxnLst/>
              <a:rect r="r" b="b" t="t" l="l"/>
              <a:pathLst>
                <a:path h="743667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743667"/>
                  </a:lnTo>
                  <a:lnTo>
                    <a:pt x="0" y="7436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1982" r="0" b="-22647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11038802" cy="7627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Conclusion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838831" y="7283644"/>
            <a:ext cx="53997" cy="378000"/>
            <a:chOff x="0" y="0"/>
            <a:chExt cx="71996" cy="504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3093720" y="7780094"/>
            <a:ext cx="8279101" cy="557752"/>
            <a:chOff x="0" y="0"/>
            <a:chExt cx="11038802" cy="74366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038800" cy="743668"/>
            </a:xfrm>
            <a:custGeom>
              <a:avLst/>
              <a:gdLst/>
              <a:ahLst/>
              <a:cxnLst/>
              <a:rect r="r" b="b" t="t" l="l"/>
              <a:pathLst>
                <a:path h="743668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743668"/>
                  </a:lnTo>
                  <a:lnTo>
                    <a:pt x="0" y="7436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1982" r="0" b="-22647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11038802" cy="7627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b="true" sz="27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Q&amp;A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838831" y="7879166"/>
            <a:ext cx="53997" cy="378000"/>
            <a:chOff x="0" y="0"/>
            <a:chExt cx="71996" cy="504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1F497D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3113151" y="4306129"/>
            <a:ext cx="8279101" cy="415500"/>
            <a:chOff x="0" y="0"/>
            <a:chExt cx="11038802" cy="55399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Introduction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838831" y="4304443"/>
            <a:ext cx="53997" cy="378000"/>
            <a:chOff x="0" y="0"/>
            <a:chExt cx="71996" cy="504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3093720" y="5989291"/>
            <a:ext cx="8279101" cy="557752"/>
            <a:chOff x="0" y="0"/>
            <a:chExt cx="11038802" cy="74366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038800" cy="743667"/>
            </a:xfrm>
            <a:custGeom>
              <a:avLst/>
              <a:gdLst/>
              <a:ahLst/>
              <a:cxnLst/>
              <a:rect r="r" b="b" t="t" l="l"/>
              <a:pathLst>
                <a:path h="743667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743667"/>
                  </a:lnTo>
                  <a:lnTo>
                    <a:pt x="0" y="7436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1982" r="0" b="-226478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11038802" cy="7627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Key Tasks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2819400" y="6057900"/>
            <a:ext cx="53997" cy="378000"/>
            <a:chOff x="0" y="0"/>
            <a:chExt cx="71996" cy="504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3113151" y="4845777"/>
            <a:ext cx="8279101" cy="415500"/>
            <a:chOff x="0" y="0"/>
            <a:chExt cx="11038802" cy="55399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Problem Statement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2838831" y="4844091"/>
            <a:ext cx="53997" cy="378000"/>
            <a:chOff x="0" y="0"/>
            <a:chExt cx="71996" cy="504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</p:spTree>
  </p:cSld>
  <p:clrMapOvr>
    <a:masterClrMapping/>
  </p:clrMapOvr>
  <p:transition spd="slow">
    <p:push dir="l"/>
  </p:transition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0"/>
            <a:ext cx="18288000" cy="3105807"/>
            <a:chOff x="0" y="0"/>
            <a:chExt cx="24384000" cy="41410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141089"/>
            </a:xfrm>
            <a:custGeom>
              <a:avLst/>
              <a:gdLst/>
              <a:ahLst/>
              <a:cxnLst/>
              <a:rect r="r" b="b" t="t" l="l"/>
              <a:pathLst>
                <a:path h="414108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141089"/>
                  </a:lnTo>
                  <a:lnTo>
                    <a:pt x="0" y="4141089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57437" y="9514008"/>
            <a:ext cx="5334857" cy="31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314805" y="4545090"/>
            <a:ext cx="5658389" cy="1187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42"/>
              </a:lnSpc>
            </a:pPr>
            <a:r>
              <a:rPr lang="en-US" sz="7785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5400000"/>
                </a:gradFill>
                <a:latin typeface="Archivo Black"/>
                <a:ea typeface="Archivo Black"/>
                <a:cs typeface="Archivo Black"/>
                <a:sym typeface="Archivo Black"/>
              </a:rPr>
              <a:t>Thank you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314805" y="5475902"/>
            <a:ext cx="6261541" cy="1187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42"/>
              </a:lnSpc>
            </a:pPr>
            <a:r>
              <a:rPr lang="en-US" sz="7785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5400000"/>
                </a:gradFill>
                <a:latin typeface="Archivo Black"/>
                <a:ea typeface="Archivo Black"/>
                <a:cs typeface="Archivo Black"/>
                <a:sym typeface="Archivo Black"/>
              </a:rPr>
              <a:t>Questions?</a:t>
            </a:r>
          </a:p>
        </p:txBody>
      </p:sp>
    </p:spTree>
  </p:cSld>
  <p:clrMapOvr>
    <a:masterClrMapping/>
  </p:clrMapOvr>
  <p:transition spd="slow">
    <p:push dir="l"/>
  </p:transition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95080" y="8427510"/>
            <a:ext cx="17192920" cy="1121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ⓒ2020 SAMSUNG.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Samsung Electronics Corporate Citizenship Office holds the copyright of book.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This book is a literary property protected by copyright law so reprint and reproduction without permission are prohibited. 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 use this book other than the curriculum of Samsung innovation Campus or to use the entire or part of this book, you must receive written consent from copyright holder.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4896871" y="605933"/>
            <a:ext cx="2513352" cy="315287"/>
          </a:xfrm>
          <a:custGeom>
            <a:avLst/>
            <a:gdLst/>
            <a:ahLst/>
            <a:cxnLst/>
            <a:rect r="r" b="b" t="t" l="l"/>
            <a:pathLst>
              <a:path h="315287" w="2513352">
                <a:moveTo>
                  <a:pt x="0" y="0"/>
                </a:moveTo>
                <a:lnTo>
                  <a:pt x="2513353" y="0"/>
                </a:lnTo>
                <a:lnTo>
                  <a:pt x="2513353" y="315287"/>
                </a:lnTo>
                <a:lnTo>
                  <a:pt x="0" y="3152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041184" y="3943321"/>
            <a:ext cx="6205633" cy="1653207"/>
            <a:chOff x="0" y="0"/>
            <a:chExt cx="8274177" cy="220427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74177" cy="2204339"/>
            </a:xfrm>
            <a:custGeom>
              <a:avLst/>
              <a:gdLst/>
              <a:ahLst/>
              <a:cxnLst/>
              <a:rect r="r" b="b" t="t" l="l"/>
              <a:pathLst>
                <a:path h="2204339" w="8274177">
                  <a:moveTo>
                    <a:pt x="0" y="0"/>
                  </a:moveTo>
                  <a:lnTo>
                    <a:pt x="8274177" y="0"/>
                  </a:lnTo>
                  <a:lnTo>
                    <a:pt x="8274177" y="2204339"/>
                  </a:lnTo>
                  <a:lnTo>
                    <a:pt x="0" y="2204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23112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DAHUIWzgkfM</dc:identifier>
  <dcterms:modified xsi:type="dcterms:W3CDTF">2011-08-01T06:04:30Z</dcterms:modified>
  <cp:revision>1</cp:revision>
  <dc:title>P 16</dc:title>
</cp:coreProperties>
</file>